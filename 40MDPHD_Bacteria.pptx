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36576000" cy="32918400"/>
  <p:notesSz cx="6858000" cy="9144000"/>
  <p:defaultTextStyle>
    <a:defPPr>
      <a:defRPr lang="en-US">
        <a:uFillTx/>
      </a:defRPr>
    </a:defPPr>
    <a:lvl1pPr marL="0" algn="l" defTabSz="571500" rtl="0" eaLnBrk="1" latinLnBrk="0" hangingPunct="1">
      <a:defRPr sz="2250" kern="1200">
        <a:solidFill>
          <a:schemeClr val="tx1"/>
        </a:solidFill>
        <a:uFillTx/>
        <a:latin typeface="+mn-lt"/>
        <a:ea typeface="+mn-ea"/>
        <a:cs typeface="+mn-cs"/>
      </a:defRPr>
    </a:lvl1pPr>
    <a:lvl2pPr marL="571500" algn="l" defTabSz="571500" rtl="0" eaLnBrk="1" latinLnBrk="0" hangingPunct="1">
      <a:defRPr sz="2250" kern="1200">
        <a:solidFill>
          <a:schemeClr val="tx1"/>
        </a:solidFill>
        <a:uFillTx/>
        <a:latin typeface="+mn-lt"/>
        <a:ea typeface="+mn-ea"/>
        <a:cs typeface="+mn-cs"/>
      </a:defRPr>
    </a:lvl2pPr>
    <a:lvl3pPr marL="1143000" algn="l" defTabSz="571500" rtl="0" eaLnBrk="1" latinLnBrk="0" hangingPunct="1">
      <a:defRPr sz="2250" kern="1200">
        <a:solidFill>
          <a:schemeClr val="tx1"/>
        </a:solidFill>
        <a:uFillTx/>
        <a:latin typeface="+mn-lt"/>
        <a:ea typeface="+mn-ea"/>
        <a:cs typeface="+mn-cs"/>
      </a:defRPr>
    </a:lvl3pPr>
    <a:lvl4pPr marL="1714500" algn="l" defTabSz="571500" rtl="0" eaLnBrk="1" latinLnBrk="0" hangingPunct="1">
      <a:defRPr sz="2250" kern="1200">
        <a:solidFill>
          <a:schemeClr val="tx1"/>
        </a:solidFill>
        <a:uFillTx/>
        <a:latin typeface="+mn-lt"/>
        <a:ea typeface="+mn-ea"/>
        <a:cs typeface="+mn-cs"/>
      </a:defRPr>
    </a:lvl4pPr>
    <a:lvl5pPr marL="2286000" algn="l" defTabSz="571500" rtl="0" eaLnBrk="1" latinLnBrk="0" hangingPunct="1">
      <a:defRPr sz="2250" kern="1200">
        <a:solidFill>
          <a:schemeClr val="tx1"/>
        </a:solidFill>
        <a:uFillTx/>
        <a:latin typeface="+mn-lt"/>
        <a:ea typeface="+mn-ea"/>
        <a:cs typeface="+mn-cs"/>
      </a:defRPr>
    </a:lvl5pPr>
    <a:lvl6pPr marL="2857500" algn="l" defTabSz="571500" rtl="0" eaLnBrk="1" latinLnBrk="0" hangingPunct="1">
      <a:defRPr sz="2250" kern="1200">
        <a:solidFill>
          <a:schemeClr val="tx1"/>
        </a:solidFill>
        <a:uFillTx/>
        <a:latin typeface="+mn-lt"/>
        <a:ea typeface="+mn-ea"/>
        <a:cs typeface="+mn-cs"/>
      </a:defRPr>
    </a:lvl6pPr>
    <a:lvl7pPr marL="3429000" algn="l" defTabSz="571500" rtl="0" eaLnBrk="1" latinLnBrk="0" hangingPunct="1">
      <a:defRPr sz="2250" kern="1200">
        <a:solidFill>
          <a:schemeClr val="tx1"/>
        </a:solidFill>
        <a:uFillTx/>
        <a:latin typeface="+mn-lt"/>
        <a:ea typeface="+mn-ea"/>
        <a:cs typeface="+mn-cs"/>
      </a:defRPr>
    </a:lvl7pPr>
    <a:lvl8pPr marL="4000500" algn="l" defTabSz="571500" rtl="0" eaLnBrk="1" latinLnBrk="0" hangingPunct="1">
      <a:defRPr sz="2250" kern="1200">
        <a:solidFill>
          <a:schemeClr val="tx1"/>
        </a:solidFill>
        <a:uFillTx/>
        <a:latin typeface="+mn-lt"/>
        <a:ea typeface="+mn-ea"/>
        <a:cs typeface="+mn-cs"/>
      </a:defRPr>
    </a:lvl8pPr>
    <a:lvl9pPr marL="4572000" algn="l" defTabSz="571500" rtl="0" eaLnBrk="1" latinLnBrk="0" hangingPunct="1">
      <a:defRPr sz="2250" kern="1200">
        <a:solidFill>
          <a:schemeClr val="tx1"/>
        </a:solidFill>
        <a:uFillTx/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368" userDrawn="1">
          <p15:clr>
            <a:srgbClr val="A4A3A4"/>
          </p15:clr>
        </p15:guide>
        <p15:guide id="2" pos="115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FAFF"/>
    <a:srgbClr val="D5EEF0"/>
    <a:srgbClr val="029544"/>
    <a:srgbClr val="00B050"/>
    <a:srgbClr val="CEEFAA"/>
    <a:srgbClr val="50F55D"/>
    <a:srgbClr val="EBF1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A08792-FFB8-41B8-B98C-856C4BFC9030}" v="72" dt="2026-06-11T15:28:28.0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srgbClr val="000000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srgbClr val="00000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rgbClr val="00000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srgbClr val="000000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srgbClr val="000000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17" autoAdjust="0"/>
    <p:restoredTop sz="87985" autoAdjust="0"/>
  </p:normalViewPr>
  <p:slideViewPr>
    <p:cSldViewPr snapToGrid="0" snapToObjects="1">
      <p:cViewPr>
        <p:scale>
          <a:sx n="50" d="100"/>
          <a:sy n="50" d="100"/>
        </p:scale>
        <p:origin x="3324" y="54"/>
      </p:cViewPr>
      <p:guideLst>
        <p:guide orient="horz" pos="10368"/>
        <p:guide pos="11520"/>
      </p:guideLst>
    </p:cSldViewPr>
  </p:slideViewPr>
  <p:notesTextViewPr>
    <p:cViewPr>
      <p:scale>
        <a:sx n="155" d="100"/>
        <a:sy n="15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van Yang" userId="000261e252d908ff" providerId="LiveId" clId="{077BF0DC-7536-41BD-B5A3-2CA35C2CB14E}"/>
    <pc:docChg chg="undo redo custSel modSld">
      <pc:chgData name="Evan Yang" userId="000261e252d908ff" providerId="LiveId" clId="{077BF0DC-7536-41BD-B5A3-2CA35C2CB14E}" dt="2026-06-11T15:31:13.760" v="9186" actId="1076"/>
      <pc:docMkLst>
        <pc:docMk/>
      </pc:docMkLst>
      <pc:sldChg chg="addSp delSp modSp mod">
        <pc:chgData name="Evan Yang" userId="000261e252d908ff" providerId="LiveId" clId="{077BF0DC-7536-41BD-B5A3-2CA35C2CB14E}" dt="2026-06-11T15:31:13.760" v="9186" actId="1076"/>
        <pc:sldMkLst>
          <pc:docMk/>
          <pc:sldMk cId="0" sldId="256"/>
        </pc:sldMkLst>
        <pc:spChg chg="add mod">
          <ac:chgData name="Evan Yang" userId="000261e252d908ff" providerId="LiveId" clId="{077BF0DC-7536-41BD-B5A3-2CA35C2CB14E}" dt="2026-06-09T19:52:43.754" v="6421" actId="1036"/>
          <ac:spMkLst>
            <pc:docMk/>
            <pc:sldMk cId="0" sldId="256"/>
            <ac:spMk id="6" creationId="{53DBA48A-9CF2-B9F6-0E3D-2AFF7E80F2B7}"/>
          </ac:spMkLst>
        </pc:spChg>
        <pc:spChg chg="add mod">
          <ac:chgData name="Evan Yang" userId="000261e252d908ff" providerId="LiveId" clId="{077BF0DC-7536-41BD-B5A3-2CA35C2CB14E}" dt="2026-06-09T20:38:04.204" v="8747" actId="403"/>
          <ac:spMkLst>
            <pc:docMk/>
            <pc:sldMk cId="0" sldId="256"/>
            <ac:spMk id="8" creationId="{48E1BC95-FBEF-AB56-9902-B2A4CCB69CA2}"/>
          </ac:spMkLst>
        </pc:spChg>
        <pc:spChg chg="add mod">
          <ac:chgData name="Evan Yang" userId="000261e252d908ff" providerId="LiveId" clId="{077BF0DC-7536-41BD-B5A3-2CA35C2CB14E}" dt="2026-06-09T20:38:15.834" v="8748" actId="403"/>
          <ac:spMkLst>
            <pc:docMk/>
            <pc:sldMk cId="0" sldId="256"/>
            <ac:spMk id="30" creationId="{413B6035-F7F9-9948-970F-0416B10D99DE}"/>
          </ac:spMkLst>
        </pc:spChg>
        <pc:spChg chg="mod">
          <ac:chgData name="Evan Yang" userId="000261e252d908ff" providerId="LiveId" clId="{077BF0DC-7536-41BD-B5A3-2CA35C2CB14E}" dt="2026-06-08T15:08:40.586" v="35" actId="20577"/>
          <ac:spMkLst>
            <pc:docMk/>
            <pc:sldMk cId="0" sldId="256"/>
            <ac:spMk id="43" creationId="{00000000-0000-0000-0000-000000000000}"/>
          </ac:spMkLst>
        </pc:spChg>
        <pc:spChg chg="mod">
          <ac:chgData name="Evan Yang" userId="000261e252d908ff" providerId="LiveId" clId="{077BF0DC-7536-41BD-B5A3-2CA35C2CB14E}" dt="2026-06-11T15:30:41.762" v="9110" actId="255"/>
          <ac:spMkLst>
            <pc:docMk/>
            <pc:sldMk cId="0" sldId="256"/>
            <ac:spMk id="51" creationId="{00000000-0000-0000-0000-000000000000}"/>
          </ac:spMkLst>
        </pc:spChg>
        <pc:spChg chg="mod">
          <ac:chgData name="Evan Yang" userId="000261e252d908ff" providerId="LiveId" clId="{077BF0DC-7536-41BD-B5A3-2CA35C2CB14E}" dt="2026-06-08T15:48:17.375" v="435" actId="20577"/>
          <ac:spMkLst>
            <pc:docMk/>
            <pc:sldMk cId="0" sldId="256"/>
            <ac:spMk id="191" creationId="{00000000-0000-0000-0000-000000000000}"/>
          </ac:spMkLst>
        </pc:spChg>
        <pc:spChg chg="mod">
          <ac:chgData name="Evan Yang" userId="000261e252d908ff" providerId="LiveId" clId="{077BF0DC-7536-41BD-B5A3-2CA35C2CB14E}" dt="2026-06-08T15:49:03.046" v="557" actId="20577"/>
          <ac:spMkLst>
            <pc:docMk/>
            <pc:sldMk cId="0" sldId="256"/>
            <ac:spMk id="196" creationId="{00000000-0000-0000-0000-000000000000}"/>
          </ac:spMkLst>
        </pc:spChg>
        <pc:spChg chg="mod">
          <ac:chgData name="Evan Yang" userId="000261e252d908ff" providerId="LiveId" clId="{077BF0DC-7536-41BD-B5A3-2CA35C2CB14E}" dt="2026-06-09T15:10:00.807" v="3766" actId="14100"/>
          <ac:spMkLst>
            <pc:docMk/>
            <pc:sldMk cId="0" sldId="256"/>
            <ac:spMk id="214" creationId="{9183622A-3BB1-45C0-D261-A077378F8D4F}"/>
          </ac:spMkLst>
        </pc:spChg>
        <pc:spChg chg="mod">
          <ac:chgData name="Evan Yang" userId="000261e252d908ff" providerId="LiveId" clId="{077BF0DC-7536-41BD-B5A3-2CA35C2CB14E}" dt="2026-06-09T15:11:08.890" v="3817" actId="20577"/>
          <ac:spMkLst>
            <pc:docMk/>
            <pc:sldMk cId="0" sldId="256"/>
            <ac:spMk id="215" creationId="{A8D36EFC-B2D1-C071-A2A2-0304F6346971}"/>
          </ac:spMkLst>
        </pc:spChg>
        <pc:spChg chg="mod">
          <ac:chgData name="Evan Yang" userId="000261e252d908ff" providerId="LiveId" clId="{077BF0DC-7536-41BD-B5A3-2CA35C2CB14E}" dt="2026-06-09T17:52:06.219" v="4855" actId="20577"/>
          <ac:spMkLst>
            <pc:docMk/>
            <pc:sldMk cId="0" sldId="256"/>
            <ac:spMk id="223" creationId="{BAADD263-BD9F-BF09-70B0-5D4EC6B74127}"/>
          </ac:spMkLst>
        </pc:spChg>
        <pc:spChg chg="add">
          <ac:chgData name="Evan Yang" userId="000261e252d908ff" providerId="LiveId" clId="{077BF0DC-7536-41BD-B5A3-2CA35C2CB14E}" dt="2026-06-08T16:07:52.304" v="2105" actId="22"/>
          <ac:spMkLst>
            <pc:docMk/>
            <pc:sldMk cId="0" sldId="256"/>
            <ac:spMk id="229" creationId="{FA57B5EA-DABD-865D-2E92-41082C1C0513}"/>
          </ac:spMkLst>
        </pc:spChg>
        <pc:spChg chg="add mod">
          <ac:chgData name="Evan Yang" userId="000261e252d908ff" providerId="LiveId" clId="{077BF0DC-7536-41BD-B5A3-2CA35C2CB14E}" dt="2026-06-09T20:38:39.399" v="8754" actId="20577"/>
          <ac:spMkLst>
            <pc:docMk/>
            <pc:sldMk cId="0" sldId="256"/>
            <ac:spMk id="232" creationId="{FA9D5A47-8B6F-59E9-999B-4853B4BCD0BA}"/>
          </ac:spMkLst>
        </pc:spChg>
        <pc:spChg chg="add mod">
          <ac:chgData name="Evan Yang" userId="000261e252d908ff" providerId="LiveId" clId="{077BF0DC-7536-41BD-B5A3-2CA35C2CB14E}" dt="2026-06-09T20:39:05.302" v="8758" actId="1076"/>
          <ac:spMkLst>
            <pc:docMk/>
            <pc:sldMk cId="0" sldId="256"/>
            <ac:spMk id="239" creationId="{87F14A5D-D313-F6FC-2EAA-BF4CB968FA7C}"/>
          </ac:spMkLst>
        </pc:spChg>
        <pc:spChg chg="mod">
          <ac:chgData name="Evan Yang" userId="000261e252d908ff" providerId="LiveId" clId="{077BF0DC-7536-41BD-B5A3-2CA35C2CB14E}" dt="2026-06-09T17:23:24.292" v="4090" actId="20577"/>
          <ac:spMkLst>
            <pc:docMk/>
            <pc:sldMk cId="0" sldId="256"/>
            <ac:spMk id="524" creationId="{1F85CAA9-C112-C763-B2F4-7DC2F3E91A63}"/>
          </ac:spMkLst>
        </pc:spChg>
        <pc:spChg chg="mod">
          <ac:chgData name="Evan Yang" userId="000261e252d908ff" providerId="LiveId" clId="{077BF0DC-7536-41BD-B5A3-2CA35C2CB14E}" dt="2026-06-09T20:38:21.975" v="8750" actId="403"/>
          <ac:spMkLst>
            <pc:docMk/>
            <pc:sldMk cId="0" sldId="256"/>
            <ac:spMk id="535" creationId="{E3041884-86C8-F5AC-17B1-9F07CB216272}"/>
          </ac:spMkLst>
        </pc:spChg>
        <pc:spChg chg="mod">
          <ac:chgData name="Evan Yang" userId="000261e252d908ff" providerId="LiveId" clId="{077BF0DC-7536-41BD-B5A3-2CA35C2CB14E}" dt="2026-06-08T18:55:25.326" v="3265" actId="20577"/>
          <ac:spMkLst>
            <pc:docMk/>
            <pc:sldMk cId="0" sldId="256"/>
            <ac:spMk id="604" creationId="{E96984AD-7472-92D9-28DF-41C02C5CF9A7}"/>
          </ac:spMkLst>
        </pc:spChg>
        <pc:spChg chg="mod">
          <ac:chgData name="Evan Yang" userId="000261e252d908ff" providerId="LiveId" clId="{077BF0DC-7536-41BD-B5A3-2CA35C2CB14E}" dt="2026-06-09T15:08:20.304" v="3593" actId="20577"/>
          <ac:spMkLst>
            <pc:docMk/>
            <pc:sldMk cId="0" sldId="256"/>
            <ac:spMk id="610" creationId="{81607A6B-196E-4BD7-79D9-AB688C61C2B4}"/>
          </ac:spMkLst>
        </pc:spChg>
        <pc:spChg chg="mod">
          <ac:chgData name="Evan Yang" userId="000261e252d908ff" providerId="LiveId" clId="{077BF0DC-7536-41BD-B5A3-2CA35C2CB14E}" dt="2026-06-09T17:22:59.174" v="4054" actId="20577"/>
          <ac:spMkLst>
            <pc:docMk/>
            <pc:sldMk cId="0" sldId="256"/>
            <ac:spMk id="613" creationId="{43638802-F4E4-435D-7BE4-B4687611A55A}"/>
          </ac:spMkLst>
        </pc:spChg>
        <pc:spChg chg="mod">
          <ac:chgData name="Evan Yang" userId="000261e252d908ff" providerId="LiveId" clId="{077BF0DC-7536-41BD-B5A3-2CA35C2CB14E}" dt="2026-06-09T17:23:01.440" v="4056" actId="20577"/>
          <ac:spMkLst>
            <pc:docMk/>
            <pc:sldMk cId="0" sldId="256"/>
            <ac:spMk id="617" creationId="{6FE8626C-97FA-5D73-FD19-641DD9C81518}"/>
          </ac:spMkLst>
        </pc:spChg>
        <pc:spChg chg="mod">
          <ac:chgData name="Evan Yang" userId="000261e252d908ff" providerId="LiveId" clId="{077BF0DC-7536-41BD-B5A3-2CA35C2CB14E}" dt="2026-06-09T18:21:36.871" v="5285" actId="20577"/>
          <ac:spMkLst>
            <pc:docMk/>
            <pc:sldMk cId="0" sldId="256"/>
            <ac:spMk id="625" creationId="{9A6AF4AF-7816-8237-3F40-A5117A299971}"/>
          </ac:spMkLst>
        </pc:spChg>
        <pc:spChg chg="mod">
          <ac:chgData name="Evan Yang" userId="000261e252d908ff" providerId="LiveId" clId="{077BF0DC-7536-41BD-B5A3-2CA35C2CB14E}" dt="2026-06-09T20:46:36.776" v="9021" actId="20577"/>
          <ac:spMkLst>
            <pc:docMk/>
            <pc:sldMk cId="0" sldId="256"/>
            <ac:spMk id="626" creationId="{AE9C3D2D-E25B-A9CC-C7A5-E6C1825A754C}"/>
          </ac:spMkLst>
        </pc:spChg>
        <pc:spChg chg="mod">
          <ac:chgData name="Evan Yang" userId="000261e252d908ff" providerId="LiveId" clId="{077BF0DC-7536-41BD-B5A3-2CA35C2CB14E}" dt="2026-06-09T20:37:55.048" v="8746" actId="14100"/>
          <ac:spMkLst>
            <pc:docMk/>
            <pc:sldMk cId="0" sldId="256"/>
            <ac:spMk id="634" creationId="{71961D06-0E95-18B1-B30E-0170462FA8D9}"/>
          </ac:spMkLst>
        </pc:spChg>
        <pc:spChg chg="mod">
          <ac:chgData name="Evan Yang" userId="000261e252d908ff" providerId="LiveId" clId="{077BF0DC-7536-41BD-B5A3-2CA35C2CB14E}" dt="2026-06-08T15:48:36.140" v="438" actId="1076"/>
          <ac:spMkLst>
            <pc:docMk/>
            <pc:sldMk cId="0" sldId="256"/>
            <ac:spMk id="674" creationId="{CE063C31-A9D7-C6DD-8A84-96F7A1F7BEF8}"/>
          </ac:spMkLst>
        </pc:spChg>
        <pc:spChg chg="mod">
          <ac:chgData name="Evan Yang" userId="000261e252d908ff" providerId="LiveId" clId="{077BF0DC-7536-41BD-B5A3-2CA35C2CB14E}" dt="2026-06-09T17:23:06.830" v="4073" actId="20577"/>
          <ac:spMkLst>
            <pc:docMk/>
            <pc:sldMk cId="0" sldId="256"/>
            <ac:spMk id="700" creationId="{225EF4BE-00E8-CA4A-9A59-CFC694CC1823}"/>
          </ac:spMkLst>
        </pc:spChg>
        <pc:spChg chg="mod">
          <ac:chgData name="Evan Yang" userId="000261e252d908ff" providerId="LiveId" clId="{077BF0DC-7536-41BD-B5A3-2CA35C2CB14E}" dt="2026-06-11T15:31:13.760" v="9186" actId="1076"/>
          <ac:spMkLst>
            <pc:docMk/>
            <pc:sldMk cId="0" sldId="256"/>
            <ac:spMk id="710" creationId="{75F56678-A29B-14B4-E075-D7D2AC7E04A5}"/>
          </ac:spMkLst>
        </pc:spChg>
        <pc:spChg chg="mod">
          <ac:chgData name="Evan Yang" userId="000261e252d908ff" providerId="LiveId" clId="{077BF0DC-7536-41BD-B5A3-2CA35C2CB14E}" dt="2026-06-08T18:54:59.457" v="3260" actId="20577"/>
          <ac:spMkLst>
            <pc:docMk/>
            <pc:sldMk cId="0" sldId="256"/>
            <ac:spMk id="782" creationId="{00000000-0000-0000-0000-000000000000}"/>
          </ac:spMkLst>
        </pc:spChg>
        <pc:grpChg chg="mod">
          <ac:chgData name="Evan Yang" userId="000261e252d908ff" providerId="LiveId" clId="{077BF0DC-7536-41BD-B5A3-2CA35C2CB14E}" dt="2026-06-09T19:54:59.060" v="6764" actId="1035"/>
          <ac:grpSpMkLst>
            <pc:docMk/>
            <pc:sldMk cId="0" sldId="256"/>
            <ac:grpSpMk id="213" creationId="{264DA2BA-0810-0CCB-CA8C-9743697A5978}"/>
          </ac:grpSpMkLst>
        </pc:grpChg>
        <pc:grpChg chg="mod">
          <ac:chgData name="Evan Yang" userId="000261e252d908ff" providerId="LiveId" clId="{077BF0DC-7536-41BD-B5A3-2CA35C2CB14E}" dt="2026-06-09T19:48:09.103" v="5984" actId="1036"/>
          <ac:grpSpMkLst>
            <pc:docMk/>
            <pc:sldMk cId="0" sldId="256"/>
            <ac:grpSpMk id="219" creationId="{DB9B132A-F166-8318-44AD-36321280A7D9}"/>
          </ac:grpSpMkLst>
        </pc:grpChg>
        <pc:grpChg chg="mod">
          <ac:chgData name="Evan Yang" userId="000261e252d908ff" providerId="LiveId" clId="{077BF0DC-7536-41BD-B5A3-2CA35C2CB14E}" dt="2026-06-09T20:43:13.943" v="8834" actId="1036"/>
          <ac:grpSpMkLst>
            <pc:docMk/>
            <pc:sldMk cId="0" sldId="256"/>
            <ac:grpSpMk id="522" creationId="{6396092B-B643-8F2A-5765-23EB5D43AE4E}"/>
          </ac:grpSpMkLst>
        </pc:grpChg>
        <pc:grpChg chg="mod">
          <ac:chgData name="Evan Yang" userId="000261e252d908ff" providerId="LiveId" clId="{077BF0DC-7536-41BD-B5A3-2CA35C2CB14E}" dt="2026-06-09T19:48:09.103" v="5984" actId="1036"/>
          <ac:grpSpMkLst>
            <pc:docMk/>
            <pc:sldMk cId="0" sldId="256"/>
            <ac:grpSpMk id="608" creationId="{D298E337-A42D-8A8E-A9FA-6A9373772E3C}"/>
          </ac:grpSpMkLst>
        </pc:grpChg>
        <pc:grpChg chg="mod">
          <ac:chgData name="Evan Yang" userId="000261e252d908ff" providerId="LiveId" clId="{077BF0DC-7536-41BD-B5A3-2CA35C2CB14E}" dt="2026-06-09T19:54:59.060" v="6764" actId="1035"/>
          <ac:grpSpMkLst>
            <pc:docMk/>
            <pc:sldMk cId="0" sldId="256"/>
            <ac:grpSpMk id="611" creationId="{0A61A665-7A71-0CAF-2192-762248AD752F}"/>
          </ac:grpSpMkLst>
        </pc:grpChg>
        <pc:grpChg chg="mod">
          <ac:chgData name="Evan Yang" userId="000261e252d908ff" providerId="LiveId" clId="{077BF0DC-7536-41BD-B5A3-2CA35C2CB14E}" dt="2026-06-09T19:54:41.303" v="6639" actId="1036"/>
          <ac:grpSpMkLst>
            <pc:docMk/>
            <pc:sldMk cId="0" sldId="256"/>
            <ac:grpSpMk id="614" creationId="{1E65BC6B-BA70-7E57-25F1-602CD7A664B1}"/>
          </ac:grpSpMkLst>
        </pc:grpChg>
        <pc:grpChg chg="mod">
          <ac:chgData name="Evan Yang" userId="000261e252d908ff" providerId="LiveId" clId="{077BF0DC-7536-41BD-B5A3-2CA35C2CB14E}" dt="2026-06-09T20:43:13.943" v="8834" actId="1036"/>
          <ac:grpSpMkLst>
            <pc:docMk/>
            <pc:sldMk cId="0" sldId="256"/>
            <ac:grpSpMk id="622" creationId="{C83C575C-6229-E0A4-1B95-C9B441DF3125}"/>
          </ac:grpSpMkLst>
        </pc:grpChg>
        <pc:grpChg chg="mod">
          <ac:chgData name="Evan Yang" userId="000261e252d908ff" providerId="LiveId" clId="{077BF0DC-7536-41BD-B5A3-2CA35C2CB14E}" dt="2026-06-09T19:54:41.303" v="6639" actId="1036"/>
          <ac:grpSpMkLst>
            <pc:docMk/>
            <pc:sldMk cId="0" sldId="256"/>
            <ac:grpSpMk id="681" creationId="{33C7FABE-BF05-3817-58FD-0ED08ECE87BA}"/>
          </ac:grpSpMkLst>
        </pc:grpChg>
        <pc:graphicFrameChg chg="add mod modGraphic">
          <ac:chgData name="Evan Yang" userId="000261e252d908ff" providerId="LiveId" clId="{077BF0DC-7536-41BD-B5A3-2CA35C2CB14E}" dt="2026-06-09T20:39:49.585" v="8765" actId="1076"/>
          <ac:graphicFrameMkLst>
            <pc:docMk/>
            <pc:sldMk cId="0" sldId="256"/>
            <ac:graphicFrameMk id="237" creationId="{DFEC08B1-BD88-86BD-B3BD-6074C82E86B6}"/>
          </ac:graphicFrameMkLst>
        </pc:graphicFrameChg>
        <pc:picChg chg="add mod">
          <ac:chgData name="Evan Yang" userId="000261e252d908ff" providerId="LiveId" clId="{077BF0DC-7536-41BD-B5A3-2CA35C2CB14E}" dt="2026-06-09T19:52:43.754" v="6421" actId="1036"/>
          <ac:picMkLst>
            <pc:docMk/>
            <pc:sldMk cId="0" sldId="256"/>
            <ac:picMk id="4" creationId="{66391C0F-C545-87E2-D332-19B767BF4BA0}"/>
          </ac:picMkLst>
        </pc:picChg>
        <pc:picChg chg="add mod">
          <ac:chgData name="Evan Yang" userId="000261e252d908ff" providerId="LiveId" clId="{077BF0DC-7536-41BD-B5A3-2CA35C2CB14E}" dt="2026-06-08T15:46:33.556" v="420" actId="1076"/>
          <ac:picMkLst>
            <pc:docMk/>
            <pc:sldMk cId="0" sldId="256"/>
            <ac:picMk id="11" creationId="{8E6C77E4-0CE6-3FBD-FC9C-4B7AEAE09E88}"/>
          </ac:picMkLst>
        </pc:picChg>
        <pc:picChg chg="add mod">
          <ac:chgData name="Evan Yang" userId="000261e252d908ff" providerId="LiveId" clId="{077BF0DC-7536-41BD-B5A3-2CA35C2CB14E}" dt="2026-06-09T19:45:32.323" v="5945" actId="1076"/>
          <ac:picMkLst>
            <pc:docMk/>
            <pc:sldMk cId="0" sldId="256"/>
            <ac:picMk id="21" creationId="{596AA1F9-EDA1-892D-F9B3-660A85606CF1}"/>
          </ac:picMkLst>
        </pc:picChg>
        <pc:picChg chg="add mod">
          <ac:chgData name="Evan Yang" userId="000261e252d908ff" providerId="LiveId" clId="{077BF0DC-7536-41BD-B5A3-2CA35C2CB14E}" dt="2026-06-09T20:16:07.428" v="7336" actId="1076"/>
          <ac:picMkLst>
            <pc:docMk/>
            <pc:sldMk cId="0" sldId="256"/>
            <ac:picMk id="22" creationId="{4D1FFA60-6C7B-D4B5-33D2-105E6218A735}"/>
          </ac:picMkLst>
        </pc:picChg>
        <pc:picChg chg="add mod">
          <ac:chgData name="Evan Yang" userId="000261e252d908ff" providerId="LiveId" clId="{077BF0DC-7536-41BD-B5A3-2CA35C2CB14E}" dt="2026-06-09T20:22:49.257" v="7345" actId="1076"/>
          <ac:picMkLst>
            <pc:docMk/>
            <pc:sldMk cId="0" sldId="256"/>
            <ac:picMk id="26" creationId="{D40FA54E-04A6-0774-5E25-9A19CC139D73}"/>
          </ac:picMkLst>
        </pc:picChg>
        <pc:picChg chg="add mod">
          <ac:chgData name="Evan Yang" userId="000261e252d908ff" providerId="LiveId" clId="{077BF0DC-7536-41BD-B5A3-2CA35C2CB14E}" dt="2026-06-09T20:29:45.177" v="7922" actId="1035"/>
          <ac:picMkLst>
            <pc:docMk/>
            <pc:sldMk cId="0" sldId="256"/>
            <ac:picMk id="28" creationId="{8D30B877-A7F7-0C22-F64E-7C798AF856AF}"/>
          </ac:picMkLst>
        </pc:picChg>
        <pc:picChg chg="add mod">
          <ac:chgData name="Evan Yang" userId="000261e252d908ff" providerId="LiveId" clId="{077BF0DC-7536-41BD-B5A3-2CA35C2CB14E}" dt="2026-06-09T20:29:50.307" v="7947" actId="1036"/>
          <ac:picMkLst>
            <pc:docMk/>
            <pc:sldMk cId="0" sldId="256"/>
            <ac:picMk id="31" creationId="{53144785-D69F-060D-3D56-56B4DDCFF486}"/>
          </ac:picMkLst>
        </pc:picChg>
        <pc:picChg chg="add mod">
          <ac:chgData name="Evan Yang" userId="000261e252d908ff" providerId="LiveId" clId="{077BF0DC-7536-41BD-B5A3-2CA35C2CB14E}" dt="2026-06-09T20:25:14.434" v="7402" actId="1035"/>
          <ac:picMkLst>
            <pc:docMk/>
            <pc:sldMk cId="0" sldId="256"/>
            <ac:picMk id="33" creationId="{DBA33B4A-3A06-E7F1-3E01-41E49E180E0D}"/>
          </ac:picMkLst>
        </pc:picChg>
        <pc:picChg chg="add mod">
          <ac:chgData name="Evan Yang" userId="000261e252d908ff" providerId="LiveId" clId="{077BF0DC-7536-41BD-B5A3-2CA35C2CB14E}" dt="2026-06-09T20:38:18.422" v="8749" actId="1076"/>
          <ac:picMkLst>
            <pc:docMk/>
            <pc:sldMk cId="0" sldId="256"/>
            <ac:picMk id="224" creationId="{ADC7A6F9-D087-16DD-9452-15F0BD9EA592}"/>
          </ac:picMkLst>
        </pc:picChg>
        <pc:picChg chg="add mod">
          <ac:chgData name="Evan Yang" userId="000261e252d908ff" providerId="LiveId" clId="{077BF0DC-7536-41BD-B5A3-2CA35C2CB14E}" dt="2026-06-09T20:38:26.294" v="8751" actId="1076"/>
          <ac:picMkLst>
            <pc:docMk/>
            <pc:sldMk cId="0" sldId="256"/>
            <ac:picMk id="230" creationId="{873EE900-2E11-3475-9D9D-6A223A8EA132}"/>
          </ac:picMkLst>
        </pc:picChg>
        <pc:picChg chg="add mod">
          <ac:chgData name="Evan Yang" userId="000261e252d908ff" providerId="LiveId" clId="{077BF0DC-7536-41BD-B5A3-2CA35C2CB14E}" dt="2026-06-09T20:38:53.151" v="8757" actId="1076"/>
          <ac:picMkLst>
            <pc:docMk/>
            <pc:sldMk cId="0" sldId="256"/>
            <ac:picMk id="236" creationId="{B50403B2-CBED-6446-5FA2-235986DBDEC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Click to edit the notes format</a:t>
            </a:r>
          </a:p>
        </p:txBody>
      </p:sp>
      <p:sp>
        <p:nvSpPr>
          <p:cNvPr id="37" name="PlaceHolder 2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</a:p>
        </p:txBody>
      </p:sp>
      <p:sp>
        <p:nvSpPr>
          <p:cNvPr id="38" name="PlaceHolder 3"/>
          <p:cNvSpPr>
            <a:spLocks noGrp="1"/>
          </p:cNvSpPr>
          <p:nvPr>
            <p:ph type="dt"/>
          </p:nvPr>
        </p:nvSpPr>
        <p:spPr>
          <a:xfrm>
            <a:off x="4399200" y="0"/>
            <a:ext cx="3372840" cy="502560"/>
          </a:xfrm>
          <a:prstGeom prst="rect">
            <a:avLst/>
          </a:prstGeom>
        </p:spPr>
        <p:txBody>
          <a:bodyPr lIns="0" tIns="0" rIns="0" bIns="0"/>
          <a:lstStyle/>
          <a:p>
            <a:pPr algn="r"/>
            <a:r>
              <a:rPr lang="en-US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</a:p>
        </p:txBody>
      </p:sp>
      <p:sp>
        <p:nvSpPr>
          <p:cNvPr id="39" name="PlaceHolder 4"/>
          <p:cNvSpPr>
            <a:spLocks noGrp="1"/>
          </p:cNvSpPr>
          <p:nvPr>
            <p:ph type="ftr"/>
          </p:nvPr>
        </p:nvSpPr>
        <p:spPr>
          <a:xfrm>
            <a:off x="0" y="9555480"/>
            <a:ext cx="3372840" cy="502560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</a:p>
        </p:txBody>
      </p:sp>
      <p:sp>
        <p:nvSpPr>
          <p:cNvPr id="40" name="PlaceHolder 5"/>
          <p:cNvSpPr>
            <a:spLocks noGrp="1"/>
          </p:cNvSpPr>
          <p:nvPr>
            <p:ph type="sldNum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</p:spPr>
        <p:txBody>
          <a:bodyPr lIns="0" tIns="0" rIns="0" bIns="0" anchor="b"/>
          <a:lstStyle/>
          <a:p>
            <a:pPr algn="r"/>
            <a:fld id="{E425A047-C5F2-4893-BB22-EAF9FC138D48}" type="slidenum">
              <a:rPr lang="en-US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pPr algn="r"/>
              <a:t>‹#›</a:t>
            </a:fld>
            <a:endParaRPr lang="en-US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571500" rtl="0" eaLnBrk="1" latinLnBrk="0" hangingPunct="1">
      <a:defRPr sz="1500" kern="1200">
        <a:solidFill>
          <a:schemeClr val="tx1"/>
        </a:solidFill>
        <a:uFillTx/>
        <a:latin typeface="+mn-lt"/>
        <a:ea typeface="+mn-ea"/>
        <a:cs typeface="+mn-cs"/>
      </a:defRPr>
    </a:lvl1pPr>
    <a:lvl2pPr marL="571500" algn="l" defTabSz="571500" rtl="0" eaLnBrk="1" latinLnBrk="0" hangingPunct="1">
      <a:defRPr sz="1500" kern="1200">
        <a:solidFill>
          <a:schemeClr val="tx1"/>
        </a:solidFill>
        <a:uFillTx/>
        <a:latin typeface="+mn-lt"/>
        <a:ea typeface="+mn-ea"/>
        <a:cs typeface="+mn-cs"/>
      </a:defRPr>
    </a:lvl2pPr>
    <a:lvl3pPr marL="1143000" algn="l" defTabSz="571500" rtl="0" eaLnBrk="1" latinLnBrk="0" hangingPunct="1">
      <a:defRPr sz="1500" kern="1200">
        <a:solidFill>
          <a:schemeClr val="tx1"/>
        </a:solidFill>
        <a:uFillTx/>
        <a:latin typeface="+mn-lt"/>
        <a:ea typeface="+mn-ea"/>
        <a:cs typeface="+mn-cs"/>
      </a:defRPr>
    </a:lvl3pPr>
    <a:lvl4pPr marL="1714500" algn="l" defTabSz="571500" rtl="0" eaLnBrk="1" latinLnBrk="0" hangingPunct="1">
      <a:defRPr sz="1500" kern="1200">
        <a:solidFill>
          <a:schemeClr val="tx1"/>
        </a:solidFill>
        <a:uFillTx/>
        <a:latin typeface="+mn-lt"/>
        <a:ea typeface="+mn-ea"/>
        <a:cs typeface="+mn-cs"/>
      </a:defRPr>
    </a:lvl4pPr>
    <a:lvl5pPr marL="2286000" algn="l" defTabSz="571500" rtl="0" eaLnBrk="1" latinLnBrk="0" hangingPunct="1">
      <a:defRPr sz="1500" kern="1200">
        <a:solidFill>
          <a:schemeClr val="tx1"/>
        </a:solidFill>
        <a:uFillTx/>
        <a:latin typeface="+mn-lt"/>
        <a:ea typeface="+mn-ea"/>
        <a:cs typeface="+mn-cs"/>
      </a:defRPr>
    </a:lvl5pPr>
    <a:lvl6pPr marL="2857500" algn="l" defTabSz="571500" rtl="0" eaLnBrk="1" latinLnBrk="0" hangingPunct="1">
      <a:defRPr sz="1500" kern="1200">
        <a:solidFill>
          <a:schemeClr val="tx1"/>
        </a:solidFill>
        <a:uFillTx/>
        <a:latin typeface="+mn-lt"/>
        <a:ea typeface="+mn-ea"/>
        <a:cs typeface="+mn-cs"/>
      </a:defRPr>
    </a:lvl6pPr>
    <a:lvl7pPr marL="3429000" algn="l" defTabSz="571500" rtl="0" eaLnBrk="1" latinLnBrk="0" hangingPunct="1">
      <a:defRPr sz="1500" kern="1200">
        <a:solidFill>
          <a:schemeClr val="tx1"/>
        </a:solidFill>
        <a:uFillTx/>
        <a:latin typeface="+mn-lt"/>
        <a:ea typeface="+mn-ea"/>
        <a:cs typeface="+mn-cs"/>
      </a:defRPr>
    </a:lvl7pPr>
    <a:lvl8pPr marL="4000500" algn="l" defTabSz="571500" rtl="0" eaLnBrk="1" latinLnBrk="0" hangingPunct="1">
      <a:defRPr sz="1500" kern="1200">
        <a:solidFill>
          <a:schemeClr val="tx1"/>
        </a:solidFill>
        <a:uFillTx/>
        <a:latin typeface="+mn-lt"/>
        <a:ea typeface="+mn-ea"/>
        <a:cs typeface="+mn-cs"/>
      </a:defRPr>
    </a:lvl8pPr>
    <a:lvl9pPr marL="4572000" algn="l" defTabSz="571500" rtl="0" eaLnBrk="1" latinLnBrk="0" hangingPunct="1">
      <a:defRPr sz="1500" kern="1200">
        <a:solidFill>
          <a:schemeClr val="tx1"/>
        </a:solidFill>
        <a:uFillTx/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20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262" name="CustomShape 2"/>
          <p:cNvSpPr>
            <a:spLocks/>
          </p:cNvSpPr>
          <p:nvPr/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fld id="{3F5F448F-3E5E-4FFD-B1C1-EC87C0802C55}" type="slidenum"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pPr algn="r">
                <a:lnSpc>
                  <a:spcPct val="100000"/>
                </a:lnSpc>
              </a:pPr>
              <a:t>1</a:t>
            </a:fld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828801" y="1313280"/>
            <a:ext cx="32918100" cy="5496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1856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1828801" y="7702560"/>
            <a:ext cx="32918100" cy="190922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135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828801" y="1313280"/>
            <a:ext cx="32918100" cy="5496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1856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1828801" y="7702560"/>
            <a:ext cx="32918100" cy="190922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135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828801" y="1313280"/>
            <a:ext cx="32918100" cy="5496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1856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1828800" y="7702560"/>
            <a:ext cx="16063800" cy="190922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135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18696000" y="7702560"/>
            <a:ext cx="16063800" cy="190922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135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828801" y="1313280"/>
            <a:ext cx="32918100" cy="5496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1856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1828801" y="1313280"/>
            <a:ext cx="32918100" cy="254815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135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828801" y="1313280"/>
            <a:ext cx="32918100" cy="5496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1856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1828800" y="7702560"/>
            <a:ext cx="16063800" cy="910692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135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1828800" y="17674920"/>
            <a:ext cx="16063800" cy="910692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135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18696000" y="7702560"/>
            <a:ext cx="16063800" cy="190922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135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1828801" y="1313280"/>
            <a:ext cx="32918100" cy="5496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1856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1828800" y="7702560"/>
            <a:ext cx="16063800" cy="190922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135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18696000" y="7702560"/>
            <a:ext cx="16063800" cy="910692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135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18696000" y="17674920"/>
            <a:ext cx="16063800" cy="910692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135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1828801" y="1313280"/>
            <a:ext cx="32918100" cy="5496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1856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1828800" y="7702560"/>
            <a:ext cx="16063800" cy="910692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135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18696000" y="7702560"/>
            <a:ext cx="16063800" cy="910692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135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1828801" y="17674920"/>
            <a:ext cx="32918100" cy="910692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135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828801" y="1313280"/>
            <a:ext cx="32918100" cy="5496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1856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1828801" y="7702560"/>
            <a:ext cx="32918100" cy="910692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135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1828801" y="17674920"/>
            <a:ext cx="32918100" cy="910692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135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828801" y="1313280"/>
            <a:ext cx="32918100" cy="5496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1856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1828800" y="7702560"/>
            <a:ext cx="16063800" cy="910692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135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18696000" y="7702560"/>
            <a:ext cx="16063800" cy="910692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135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18696000" y="17674920"/>
            <a:ext cx="16063800" cy="910692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135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1828800" y="17674920"/>
            <a:ext cx="16063800" cy="910692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135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1828801" y="1313280"/>
            <a:ext cx="32918100" cy="5496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1856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1828801" y="7702560"/>
            <a:ext cx="32918100" cy="190922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135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1828801" y="7702560"/>
            <a:ext cx="32918100" cy="190922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135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34" name="Picture 33"/>
          <p:cNvPicPr/>
          <p:nvPr/>
        </p:nvPicPr>
        <p:blipFill>
          <a:blip r:embed="rId2"/>
          <a:stretch/>
        </p:blipFill>
        <p:spPr>
          <a:xfrm>
            <a:off x="8316601" y="7702560"/>
            <a:ext cx="19941900" cy="19092240"/>
          </a:xfrm>
          <a:prstGeom prst="rect">
            <a:avLst/>
          </a:prstGeom>
          <a:ln>
            <a:noFill/>
          </a:ln>
        </p:spPr>
      </p:pic>
      <p:pic>
        <p:nvPicPr>
          <p:cNvPr id="35" name="Picture 34"/>
          <p:cNvPicPr/>
          <p:nvPr/>
        </p:nvPicPr>
        <p:blipFill>
          <a:blip r:embed="rId2"/>
          <a:stretch/>
        </p:blipFill>
        <p:spPr>
          <a:xfrm>
            <a:off x="8316601" y="7702560"/>
            <a:ext cx="19941900" cy="190922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828801" y="1313280"/>
            <a:ext cx="32918100" cy="5496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1856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1828801" y="7702560"/>
            <a:ext cx="32918100" cy="19092240"/>
          </a:xfrm>
          <a:prstGeom prst="rect">
            <a:avLst/>
          </a:prstGeom>
        </p:spPr>
        <p:txBody>
          <a:bodyPr lIns="0" tIns="0" rIns="0" bIns="0"/>
          <a:lstStyle/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5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Click to edit the outline text format</a:t>
            </a:r>
          </a:p>
          <a:p>
            <a:pPr marL="364462" lvl="1" indent="-136674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181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Second Outline Level</a:t>
            </a:r>
          </a:p>
          <a:p>
            <a:pPr marL="546693" lvl="2" indent="-121487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13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Third Outline Level</a:t>
            </a:r>
          </a:p>
          <a:p>
            <a:pPr marL="728926" lvl="3" indent="-91115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843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Fourth Outline Level</a:t>
            </a:r>
          </a:p>
          <a:p>
            <a:pPr marL="911156" lvl="4" indent="-91115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843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Fifth Outline Level</a:t>
            </a:r>
          </a:p>
          <a:p>
            <a:pPr marL="1093388" lvl="5" indent="-91115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843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Sixth Outline Level</a:t>
            </a:r>
          </a:p>
          <a:p>
            <a:pPr marL="1275620" lvl="6" indent="-91115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843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/>
    <p:bodyStyle>
      <a:lvl1pPr marL="388800" indent="-291600">
        <a:buClr>
          <a:srgbClr val="000000"/>
        </a:buClr>
        <a:buSzPct val="45000"/>
        <a:buFont typeface="Wingdings" charset="2"/>
        <a:buChar char=""/>
        <a:defRPr>
          <a:uFillTx/>
        </a:defRPr>
      </a:lvl1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9.png"/><Relationship Id="rId18" Type="http://schemas.openxmlformats.org/officeDocument/2006/relationships/image" Target="../media/image14.png"/><Relationship Id="rId3" Type="http://schemas.openxmlformats.org/officeDocument/2006/relationships/image" Target="../media/image2.emf"/><Relationship Id="rId7" Type="http://schemas.openxmlformats.org/officeDocument/2006/relationships/hyperlink" Target="https://doi.org/10.1126/science.ado9336" TargetMode="External"/><Relationship Id="rId12" Type="http://schemas.openxmlformats.org/officeDocument/2006/relationships/image" Target="../media/image8.png"/><Relationship Id="rId17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oi.org/10.1038/s41586-025-10014-0" TargetMode="External"/><Relationship Id="rId11" Type="http://schemas.openxmlformats.org/officeDocument/2006/relationships/image" Target="../media/image7.png"/><Relationship Id="rId5" Type="http://schemas.openxmlformats.org/officeDocument/2006/relationships/hyperlink" Target="https://www.cdc.gov/antimicrobial-resistance/data-research/facts-stats/index.html" TargetMode="External"/><Relationship Id="rId15" Type="http://schemas.openxmlformats.org/officeDocument/2006/relationships/image" Target="../media/image11.png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image" Target="../media/image5.jpeg"/><Relationship Id="rId1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Rectangle 648">
            <a:extLst>
              <a:ext uri="{FF2B5EF4-FFF2-40B4-BE49-F238E27FC236}">
                <a16:creationId xmlns:a16="http://schemas.microsoft.com/office/drawing/2014/main" id="{9DD1F01E-F8E0-D32E-0062-D8CD51E3CE33}"/>
              </a:ext>
            </a:extLst>
          </p:cNvPr>
          <p:cNvSpPr/>
          <p:nvPr/>
        </p:nvSpPr>
        <p:spPr>
          <a:xfrm>
            <a:off x="21122114" y="24563886"/>
            <a:ext cx="4066009" cy="3453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9" name="Group 188"/>
          <p:cNvGrpSpPr/>
          <p:nvPr/>
        </p:nvGrpSpPr>
        <p:grpSpPr>
          <a:xfrm>
            <a:off x="391767" y="2813977"/>
            <a:ext cx="9003391" cy="557128"/>
            <a:chOff x="320222" y="4075876"/>
            <a:chExt cx="6737706" cy="950898"/>
          </a:xfrm>
          <a:solidFill>
            <a:schemeClr val="accent1">
              <a:lumMod val="75000"/>
            </a:schemeClr>
          </a:solidFill>
        </p:grpSpPr>
        <p:sp>
          <p:nvSpPr>
            <p:cNvPr id="191" name="CustomShape 19"/>
            <p:cNvSpPr>
              <a:spLocks/>
            </p:cNvSpPr>
            <p:nvPr/>
          </p:nvSpPr>
          <p:spPr>
            <a:xfrm>
              <a:off x="320222" y="4075876"/>
              <a:ext cx="6737706" cy="940973"/>
            </a:xfrm>
            <a:prstGeom prst="rect">
              <a:avLst/>
            </a:prstGeom>
            <a:grpFill/>
            <a:ln w="9360">
              <a:solidFill>
                <a:schemeClr val="bg1"/>
              </a:solidFill>
              <a:miter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196" name="CustomShape 20"/>
            <p:cNvSpPr>
              <a:spLocks/>
            </p:cNvSpPr>
            <p:nvPr/>
          </p:nvSpPr>
          <p:spPr>
            <a:xfrm>
              <a:off x="320222" y="4152586"/>
              <a:ext cx="6737706" cy="874188"/>
            </a:xfrm>
            <a:prstGeom prst="rect">
              <a:avLst/>
            </a:prstGeom>
            <a:noFill/>
            <a:ln w="936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37969" tIns="18985" rIns="37969" bIns="18985"/>
            <a:lstStyle/>
            <a:p>
              <a:pPr>
                <a:lnSpc>
                  <a:spcPct val="100000"/>
                </a:lnSpc>
              </a:pPr>
              <a:r>
                <a:rPr lang="en-US" sz="2700" b="1" spc="-1" dirty="0">
                  <a:solidFill>
                    <a:schemeClr val="bg1"/>
                  </a:solidFill>
                  <a:uFill>
                    <a:solidFill>
                      <a:srgbClr val="FFFFFF"/>
                    </a:solidFill>
                  </a:uFill>
                  <a:latin typeface="Calibri" panose="020F0502020204030204" pitchFamily="34" charset="0"/>
                  <a:cs typeface="Calibri" panose="020F0502020204030204" pitchFamily="34" charset="0"/>
                </a:rPr>
                <a:t>              Bacterial genetic mutations drive antibiotic resistance</a:t>
              </a:r>
              <a:endParaRPr lang="en-US" sz="2700" spc="-1" dirty="0">
                <a:solidFill>
                  <a:schemeClr val="bg1"/>
                </a:solidFill>
                <a:uFill>
                  <a:solidFill>
                    <a:srgbClr val="FFFFFF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0" y="32138714"/>
            <a:ext cx="36575999" cy="769882"/>
            <a:chOff x="-16279" y="32007916"/>
            <a:chExt cx="43926821" cy="1026509"/>
          </a:xfrm>
        </p:grpSpPr>
        <p:sp>
          <p:nvSpPr>
            <p:cNvPr id="44" name="CustomShape 4"/>
            <p:cNvSpPr>
              <a:spLocks/>
            </p:cNvSpPr>
            <p:nvPr/>
          </p:nvSpPr>
          <p:spPr>
            <a:xfrm>
              <a:off x="-16278" y="32307508"/>
              <a:ext cx="43926820" cy="726917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936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17" name="CustomShape 1044"/>
            <p:cNvSpPr>
              <a:spLocks/>
            </p:cNvSpPr>
            <p:nvPr/>
          </p:nvSpPr>
          <p:spPr>
            <a:xfrm>
              <a:off x="-16279" y="32187422"/>
              <a:ext cx="43907480" cy="14021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360">
              <a:solidFill>
                <a:schemeClr val="bg1">
                  <a:lumMod val="65000"/>
                </a:schemeClr>
              </a:solidFill>
              <a:miter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18" name="CustomShape 1044"/>
            <p:cNvSpPr>
              <a:spLocks/>
            </p:cNvSpPr>
            <p:nvPr/>
          </p:nvSpPr>
          <p:spPr>
            <a:xfrm>
              <a:off x="-14836" y="32007916"/>
              <a:ext cx="43906036" cy="15819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9360">
              <a:solidFill>
                <a:schemeClr val="tx2">
                  <a:lumMod val="20000"/>
                  <a:lumOff val="80000"/>
                </a:schemeClr>
              </a:solidFill>
              <a:miter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/>
            <a:lstStyle/>
            <a:p>
              <a:endParaRPr lang="en-US" sz="2700" dirty="0"/>
            </a:p>
          </p:txBody>
        </p:sp>
      </p:grpSp>
      <p:sp>
        <p:nvSpPr>
          <p:cNvPr id="42" name="CustomShape 2"/>
          <p:cNvSpPr>
            <a:spLocks/>
          </p:cNvSpPr>
          <p:nvPr/>
        </p:nvSpPr>
        <p:spPr>
          <a:xfrm>
            <a:off x="0" y="-9929"/>
            <a:ext cx="36576000" cy="236406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360">
            <a:solidFill>
              <a:srgbClr val="24478B"/>
            </a:solidFill>
            <a:miter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wrap="none" lIns="37969" tIns="18985" rIns="37969" bIns="18985" anchor="ctr"/>
          <a:lstStyle/>
          <a:p>
            <a:pPr>
              <a:lnSpc>
                <a:spcPct val="100000"/>
              </a:lnSpc>
            </a:pPr>
            <a:r>
              <a:rPr lang="en-US" sz="633" spc="-1" dirty="0">
                <a:solidFill>
                  <a:srgbClr val="3465C5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n</a:t>
            </a:r>
            <a:endParaRPr lang="en-US" sz="76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103" name="CustomShape 1044"/>
          <p:cNvSpPr>
            <a:spLocks/>
          </p:cNvSpPr>
          <p:nvPr/>
        </p:nvSpPr>
        <p:spPr>
          <a:xfrm>
            <a:off x="0" y="2279752"/>
            <a:ext cx="36576000" cy="256527"/>
          </a:xfrm>
          <a:prstGeom prst="rect">
            <a:avLst/>
          </a:prstGeom>
          <a:solidFill>
            <a:schemeClr val="bg1">
              <a:lumMod val="65000"/>
            </a:schemeClr>
          </a:solidFill>
          <a:ln w="9360">
            <a:solidFill>
              <a:schemeClr val="bg1">
                <a:lumMod val="65000"/>
              </a:schemeClr>
            </a:solidFill>
            <a:miter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16" name="CustomShape 1044"/>
          <p:cNvSpPr>
            <a:spLocks/>
          </p:cNvSpPr>
          <p:nvPr/>
        </p:nvSpPr>
        <p:spPr>
          <a:xfrm>
            <a:off x="0" y="2417500"/>
            <a:ext cx="36575999" cy="2000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360">
            <a:solidFill>
              <a:schemeClr val="tx2">
                <a:lumMod val="20000"/>
                <a:lumOff val="80000"/>
              </a:schemeClr>
            </a:solidFill>
            <a:miter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9" name="Rectangle 18"/>
          <p:cNvSpPr>
            <a:spLocks/>
          </p:cNvSpPr>
          <p:nvPr/>
        </p:nvSpPr>
        <p:spPr>
          <a:xfrm>
            <a:off x="34230026" y="32399590"/>
            <a:ext cx="2217082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7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koo@cshl.edu</a:t>
            </a:r>
          </a:p>
        </p:txBody>
      </p:sp>
      <p:sp>
        <p:nvSpPr>
          <p:cNvPr id="207" name="Rectangle 206"/>
          <p:cNvSpPr>
            <a:spLocks/>
          </p:cNvSpPr>
          <p:nvPr/>
        </p:nvSpPr>
        <p:spPr>
          <a:xfrm>
            <a:off x="98306" y="32390691"/>
            <a:ext cx="2441502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7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koolab.cshl.edu</a:t>
            </a:r>
          </a:p>
        </p:txBody>
      </p:sp>
      <p:grpSp>
        <p:nvGrpSpPr>
          <p:cNvPr id="780" name="Group 779"/>
          <p:cNvGrpSpPr/>
          <p:nvPr/>
        </p:nvGrpSpPr>
        <p:grpSpPr>
          <a:xfrm>
            <a:off x="9984999" y="2818270"/>
            <a:ext cx="16129602" cy="562660"/>
            <a:chOff x="320222" y="4034345"/>
            <a:chExt cx="6737706" cy="977489"/>
          </a:xfrm>
          <a:solidFill>
            <a:schemeClr val="accent1">
              <a:lumMod val="75000"/>
            </a:schemeClr>
          </a:solidFill>
        </p:grpSpPr>
        <p:sp>
          <p:nvSpPr>
            <p:cNvPr id="781" name="CustomShape 19"/>
            <p:cNvSpPr>
              <a:spLocks/>
            </p:cNvSpPr>
            <p:nvPr/>
          </p:nvSpPr>
          <p:spPr>
            <a:xfrm>
              <a:off x="320222" y="4034345"/>
              <a:ext cx="6737706" cy="977489"/>
            </a:xfrm>
            <a:prstGeom prst="rect">
              <a:avLst/>
            </a:prstGeom>
            <a:grpFill/>
            <a:ln w="9360">
              <a:solidFill>
                <a:schemeClr val="bg1"/>
              </a:solidFill>
              <a:miter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82" name="CustomShape 20"/>
            <p:cNvSpPr>
              <a:spLocks/>
            </p:cNvSpPr>
            <p:nvPr/>
          </p:nvSpPr>
          <p:spPr>
            <a:xfrm>
              <a:off x="320222" y="4133928"/>
              <a:ext cx="6737706" cy="874190"/>
            </a:xfrm>
            <a:prstGeom prst="rect">
              <a:avLst/>
            </a:prstGeom>
            <a:noFill/>
            <a:ln w="936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37969" tIns="18985" rIns="37969" bIns="18985"/>
            <a:lstStyle/>
            <a:p>
              <a:pPr algn="ctr"/>
              <a:r>
                <a:rPr lang="en-US" sz="270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Experimental Set Up</a:t>
              </a:r>
            </a:p>
          </p:txBody>
        </p:sp>
      </p:grpSp>
      <p:grpSp>
        <p:nvGrpSpPr>
          <p:cNvPr id="672" name="Group 671">
            <a:extLst>
              <a:ext uri="{FF2B5EF4-FFF2-40B4-BE49-F238E27FC236}">
                <a16:creationId xmlns:a16="http://schemas.microsoft.com/office/drawing/2014/main" id="{AD04CE87-0CEC-0636-A2F1-1BC591DAA1B8}"/>
              </a:ext>
            </a:extLst>
          </p:cNvPr>
          <p:cNvGrpSpPr/>
          <p:nvPr/>
        </p:nvGrpSpPr>
        <p:grpSpPr>
          <a:xfrm>
            <a:off x="228556" y="10651301"/>
            <a:ext cx="9241369" cy="551313"/>
            <a:chOff x="142131" y="4075876"/>
            <a:chExt cx="6915797" cy="940973"/>
          </a:xfrm>
          <a:solidFill>
            <a:schemeClr val="accent1">
              <a:lumMod val="75000"/>
            </a:schemeClr>
          </a:solidFill>
        </p:grpSpPr>
        <p:sp>
          <p:nvSpPr>
            <p:cNvPr id="673" name="CustomShape 19">
              <a:extLst>
                <a:ext uri="{FF2B5EF4-FFF2-40B4-BE49-F238E27FC236}">
                  <a16:creationId xmlns:a16="http://schemas.microsoft.com/office/drawing/2014/main" id="{7D3A0BEF-9564-B721-23EC-FCFC912F4631}"/>
                </a:ext>
              </a:extLst>
            </p:cNvPr>
            <p:cNvSpPr>
              <a:spLocks/>
            </p:cNvSpPr>
            <p:nvPr/>
          </p:nvSpPr>
          <p:spPr>
            <a:xfrm>
              <a:off x="320222" y="4075876"/>
              <a:ext cx="6737706" cy="940973"/>
            </a:xfrm>
            <a:prstGeom prst="rect">
              <a:avLst/>
            </a:prstGeom>
            <a:grpFill/>
            <a:ln w="9360">
              <a:solidFill>
                <a:schemeClr val="bg1"/>
              </a:solidFill>
              <a:miter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674" name="CustomShape 20">
              <a:extLst>
                <a:ext uri="{FF2B5EF4-FFF2-40B4-BE49-F238E27FC236}">
                  <a16:creationId xmlns:a16="http://schemas.microsoft.com/office/drawing/2014/main" id="{CE063C31-A9D7-C6DD-8A84-96F7A1F7BEF8}"/>
                </a:ext>
              </a:extLst>
            </p:cNvPr>
            <p:cNvSpPr>
              <a:spLocks/>
            </p:cNvSpPr>
            <p:nvPr/>
          </p:nvSpPr>
          <p:spPr>
            <a:xfrm>
              <a:off x="142131" y="4081807"/>
              <a:ext cx="6737706" cy="874186"/>
            </a:xfrm>
            <a:prstGeom prst="rect">
              <a:avLst/>
            </a:prstGeom>
            <a:noFill/>
            <a:ln w="936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37969" tIns="18985" rIns="37969" bIns="18985"/>
            <a:lstStyle/>
            <a:p>
              <a:pPr algn="ctr">
                <a:lnSpc>
                  <a:spcPct val="100000"/>
                </a:lnSpc>
              </a:pPr>
              <a:r>
                <a:rPr lang="en-US" sz="2700" b="1" spc="-1" dirty="0">
                  <a:solidFill>
                    <a:schemeClr val="bg1"/>
                  </a:solidFill>
                  <a:uFill>
                    <a:solidFill>
                      <a:srgbClr val="FFFFFF"/>
                    </a:solidFill>
                  </a:uFill>
                  <a:latin typeface="Calibri" panose="020F0502020204030204" pitchFamily="34" charset="0"/>
                  <a:cs typeface="Calibri" panose="020F0502020204030204" pitchFamily="34" charset="0"/>
                </a:rPr>
                <a:t>             Genomic seq2func models predict biological activity</a:t>
              </a:r>
              <a:endParaRPr lang="en-US" sz="2700" spc="-1" dirty="0">
                <a:solidFill>
                  <a:schemeClr val="bg1"/>
                </a:solidFill>
                <a:uFill>
                  <a:solidFill>
                    <a:srgbClr val="FFFFFF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681" name="Group 680">
            <a:extLst>
              <a:ext uri="{FF2B5EF4-FFF2-40B4-BE49-F238E27FC236}">
                <a16:creationId xmlns:a16="http://schemas.microsoft.com/office/drawing/2014/main" id="{33C7FABE-BF05-3817-58FD-0ED08ECE87BA}"/>
              </a:ext>
            </a:extLst>
          </p:cNvPr>
          <p:cNvGrpSpPr/>
          <p:nvPr/>
        </p:nvGrpSpPr>
        <p:grpSpPr>
          <a:xfrm>
            <a:off x="26834396" y="18677459"/>
            <a:ext cx="9490576" cy="568607"/>
            <a:chOff x="320222" y="3908443"/>
            <a:chExt cx="6737706" cy="986951"/>
          </a:xfrm>
          <a:solidFill>
            <a:schemeClr val="accent1">
              <a:lumMod val="75000"/>
            </a:schemeClr>
          </a:solidFill>
        </p:grpSpPr>
        <p:sp>
          <p:nvSpPr>
            <p:cNvPr id="682" name="CustomShape 19">
              <a:extLst>
                <a:ext uri="{FF2B5EF4-FFF2-40B4-BE49-F238E27FC236}">
                  <a16:creationId xmlns:a16="http://schemas.microsoft.com/office/drawing/2014/main" id="{8671FA71-C95C-A459-930A-87CC9CFF73C0}"/>
                </a:ext>
              </a:extLst>
            </p:cNvPr>
            <p:cNvSpPr>
              <a:spLocks/>
            </p:cNvSpPr>
            <p:nvPr/>
          </p:nvSpPr>
          <p:spPr>
            <a:xfrm>
              <a:off x="320222" y="3908443"/>
              <a:ext cx="6737706" cy="986951"/>
            </a:xfrm>
            <a:prstGeom prst="rect">
              <a:avLst/>
            </a:prstGeom>
            <a:grpFill/>
            <a:ln w="9360">
              <a:solidFill>
                <a:schemeClr val="bg1"/>
              </a:solidFill>
              <a:miter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00" name="CustomShape 20">
              <a:extLst>
                <a:ext uri="{FF2B5EF4-FFF2-40B4-BE49-F238E27FC236}">
                  <a16:creationId xmlns:a16="http://schemas.microsoft.com/office/drawing/2014/main" id="{225EF4BE-00E8-CA4A-9A59-CFC694CC1823}"/>
                </a:ext>
              </a:extLst>
            </p:cNvPr>
            <p:cNvSpPr>
              <a:spLocks/>
            </p:cNvSpPr>
            <p:nvPr/>
          </p:nvSpPr>
          <p:spPr>
            <a:xfrm>
              <a:off x="320222" y="4021170"/>
              <a:ext cx="6737706" cy="874189"/>
            </a:xfrm>
            <a:prstGeom prst="rect">
              <a:avLst/>
            </a:prstGeom>
            <a:noFill/>
            <a:ln w="936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37969" tIns="18985" rIns="37969" bIns="18985"/>
            <a:lstStyle/>
            <a:p>
              <a:pPr>
                <a:lnSpc>
                  <a:spcPct val="100000"/>
                </a:lnSpc>
              </a:pPr>
              <a:r>
                <a:rPr lang="en-US" sz="2700" b="1" spc="-1" dirty="0">
                  <a:solidFill>
                    <a:schemeClr val="bg1"/>
                  </a:solidFill>
                  <a:uFill>
                    <a:solidFill>
                      <a:srgbClr val="FFFFFF"/>
                    </a:solidFill>
                  </a:uFill>
                  <a:latin typeface="Calibri" panose="020F0502020204030204" pitchFamily="34" charset="0"/>
                  <a:cs typeface="Calibri" panose="020F0502020204030204" pitchFamily="34" charset="0"/>
                </a:rPr>
                <a:t>            Future directions</a:t>
              </a:r>
              <a:endParaRPr lang="en-US" sz="2700" spc="-1" dirty="0">
                <a:solidFill>
                  <a:schemeClr val="bg1"/>
                </a:solidFill>
                <a:uFill>
                  <a:solidFill>
                    <a:srgbClr val="FFFFFF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586" name="Group 585">
            <a:extLst>
              <a:ext uri="{FF2B5EF4-FFF2-40B4-BE49-F238E27FC236}">
                <a16:creationId xmlns:a16="http://schemas.microsoft.com/office/drawing/2014/main" id="{B2187D91-7BFA-83EF-58BD-216C0113FAC5}"/>
              </a:ext>
            </a:extLst>
          </p:cNvPr>
          <p:cNvGrpSpPr/>
          <p:nvPr/>
        </p:nvGrpSpPr>
        <p:grpSpPr>
          <a:xfrm>
            <a:off x="-16107" y="141572"/>
            <a:ext cx="36592107" cy="2175835"/>
            <a:chOff x="1682064" y="141572"/>
            <a:chExt cx="36592107" cy="2175835"/>
          </a:xfrm>
        </p:grpSpPr>
        <p:sp>
          <p:nvSpPr>
            <p:cNvPr id="43" name="CustomShape 3"/>
            <p:cNvSpPr>
              <a:spLocks/>
            </p:cNvSpPr>
            <p:nvPr/>
          </p:nvSpPr>
          <p:spPr>
            <a:xfrm>
              <a:off x="1698171" y="141572"/>
              <a:ext cx="36576000" cy="1168535"/>
            </a:xfrm>
            <a:prstGeom prst="rect">
              <a:avLst/>
            </a:prstGeom>
            <a:noFill/>
            <a:ln w="936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37969" tIns="18985" rIns="37969" bIns="18985"/>
            <a:lstStyle/>
            <a:p>
              <a:pPr algn="ctr">
                <a:lnSpc>
                  <a:spcPct val="100000"/>
                </a:lnSpc>
              </a:pPr>
              <a:r>
                <a:rPr lang="en-US" sz="5625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Benchmarking </a:t>
              </a:r>
              <a:r>
                <a:rPr lang="en-US" sz="5625" b="1" dirty="0" err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AlphaGenome</a:t>
              </a:r>
              <a:r>
                <a:rPr lang="en-US" sz="5625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On Bacteria</a:t>
              </a:r>
              <a:endParaRPr lang="en-US" sz="5625" b="1" spc="-1" dirty="0">
                <a:solidFill>
                  <a:schemeClr val="bg1"/>
                </a:solidFill>
                <a:uFill>
                  <a:solidFill>
                    <a:srgbClr val="FFFFFF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1" name="CustomShape 11"/>
            <p:cNvSpPr>
              <a:spLocks/>
            </p:cNvSpPr>
            <p:nvPr/>
          </p:nvSpPr>
          <p:spPr>
            <a:xfrm>
              <a:off x="1698171" y="1065847"/>
              <a:ext cx="36575999" cy="822472"/>
            </a:xfrm>
            <a:prstGeom prst="rect">
              <a:avLst/>
            </a:prstGeom>
            <a:noFill/>
            <a:ln w="936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37969" tIns="18985" rIns="37969" bIns="18985"/>
            <a:lstStyle/>
            <a:p>
              <a:pPr algn="ctr">
                <a:lnSpc>
                  <a:spcPct val="100000"/>
                </a:lnSpc>
              </a:pPr>
              <a:r>
                <a:rPr lang="en-US" sz="3000" spc="-1" dirty="0"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  <a:latin typeface="Arial"/>
                  <a:ea typeface="DejaVu Sans"/>
                </a:rPr>
                <a:t>Evan Yang</a:t>
              </a:r>
              <a:r>
                <a:rPr lang="en-US" sz="3000" spc="-1" baseline="30000" dirty="0"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  <a:latin typeface="Arial"/>
                  <a:ea typeface="DejaVu Sans"/>
                </a:rPr>
                <a:t>1,2,3</a:t>
              </a:r>
              <a:r>
                <a:rPr lang="en-US" sz="3000" spc="-1" dirty="0"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  <a:latin typeface="Arial"/>
                  <a:ea typeface="DejaVu Sans"/>
                </a:rPr>
                <a:t>, Tengfei Ma</a:t>
              </a:r>
              <a:r>
                <a:rPr lang="en-US" sz="3000" spc="-1" baseline="30000" dirty="0"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  <a:latin typeface="Arial"/>
                  <a:ea typeface="DejaVu Sans"/>
                </a:rPr>
                <a:t>2</a:t>
              </a:r>
              <a:r>
                <a:rPr lang="en-US" sz="3000" spc="-1" dirty="0"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  <a:latin typeface="Arial"/>
                  <a:ea typeface="DejaVu Sans"/>
                </a:rPr>
                <a:t>, Peter Koo</a:t>
              </a:r>
              <a:r>
                <a:rPr lang="en-US" sz="3000" spc="-1" baseline="30000" dirty="0"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  <a:latin typeface="Arial"/>
                  <a:ea typeface="DejaVu Sans"/>
                </a:rPr>
                <a:t>3</a:t>
              </a:r>
              <a:endParaRPr lang="en-US" sz="3000" spc="-1" baseline="30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endParaRPr>
            </a:p>
          </p:txBody>
        </p:sp>
        <p:sp>
          <p:nvSpPr>
            <p:cNvPr id="710" name="CustomShape 11">
              <a:extLst>
                <a:ext uri="{FF2B5EF4-FFF2-40B4-BE49-F238E27FC236}">
                  <a16:creationId xmlns:a16="http://schemas.microsoft.com/office/drawing/2014/main" id="{75F56678-A29B-14B4-E075-D7D2AC7E04A5}"/>
                </a:ext>
              </a:extLst>
            </p:cNvPr>
            <p:cNvSpPr>
              <a:spLocks/>
            </p:cNvSpPr>
            <p:nvPr/>
          </p:nvSpPr>
          <p:spPr>
            <a:xfrm>
              <a:off x="1682064" y="1558807"/>
              <a:ext cx="36576001" cy="758600"/>
            </a:xfrm>
            <a:prstGeom prst="rect">
              <a:avLst/>
            </a:prstGeom>
            <a:noFill/>
            <a:ln w="936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37969" tIns="18985" rIns="37969" bIns="18985"/>
            <a:lstStyle/>
            <a:p>
              <a:pPr marL="457200" indent="-457200" algn="ctr">
                <a:lnSpc>
                  <a:spcPct val="100000"/>
                </a:lnSpc>
                <a:buAutoNum type="arabicPeriod"/>
              </a:pPr>
              <a:r>
                <a:rPr lang="en-US" sz="1400" spc="-1" dirty="0"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  <a:latin typeface="Arial"/>
                  <a:ea typeface="DejaVu Sans"/>
                </a:rPr>
                <a:t>MSTP Program, Stony Brook University, NY, USA </a:t>
              </a:r>
            </a:p>
            <a:p>
              <a:pPr marL="457200" indent="-457200" algn="ctr">
                <a:lnSpc>
                  <a:spcPct val="100000"/>
                </a:lnSpc>
                <a:buAutoNum type="arabicPeriod"/>
              </a:pPr>
              <a:r>
                <a:rPr lang="en-US" sz="1400" spc="-1" dirty="0"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  <a:latin typeface="Arial"/>
                  <a:ea typeface="DejaVu Sans"/>
                </a:rPr>
                <a:t>Department of Bioinformatics, Stony Brook University, NY, USA </a:t>
              </a:r>
            </a:p>
            <a:p>
              <a:pPr marL="457200" indent="-457200" algn="ctr">
                <a:lnSpc>
                  <a:spcPct val="100000"/>
                </a:lnSpc>
                <a:buAutoNum type="arabicPeriod"/>
              </a:pPr>
              <a:r>
                <a:rPr lang="en-US" sz="1400" spc="-1" dirty="0"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  <a:latin typeface="Arial"/>
                  <a:ea typeface="DejaVu Sans"/>
                </a:rPr>
                <a:t>Simons Center for Quantitative Biology, Cold Spring Harbor Laboratory, NY, USA</a:t>
              </a:r>
              <a:endParaRPr lang="en-US" sz="1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endParaRPr>
            </a:p>
          </p:txBody>
        </p:sp>
      </p:grpSp>
      <p:pic>
        <p:nvPicPr>
          <p:cNvPr id="712" name="Picture 711">
            <a:extLst>
              <a:ext uri="{FF2B5EF4-FFF2-40B4-BE49-F238E27FC236}">
                <a16:creationId xmlns:a16="http://schemas.microsoft.com/office/drawing/2014/main" id="{B859593A-8F52-8A4A-6AB3-68018760F5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414" y="270004"/>
            <a:ext cx="3514125" cy="1690127"/>
          </a:xfrm>
          <a:prstGeom prst="rect">
            <a:avLst/>
          </a:prstGeom>
        </p:spPr>
      </p:pic>
      <p:grpSp>
        <p:nvGrpSpPr>
          <p:cNvPr id="213" name="Group 212">
            <a:extLst>
              <a:ext uri="{FF2B5EF4-FFF2-40B4-BE49-F238E27FC236}">
                <a16:creationId xmlns:a16="http://schemas.microsoft.com/office/drawing/2014/main" id="{264DA2BA-0810-0CCB-CA8C-9743697A5978}"/>
              </a:ext>
            </a:extLst>
          </p:cNvPr>
          <p:cNvGrpSpPr/>
          <p:nvPr/>
        </p:nvGrpSpPr>
        <p:grpSpPr>
          <a:xfrm>
            <a:off x="26835190" y="2942553"/>
            <a:ext cx="9442843" cy="568607"/>
            <a:chOff x="320222" y="3908443"/>
            <a:chExt cx="6737706" cy="986951"/>
          </a:xfrm>
          <a:solidFill>
            <a:schemeClr val="accent1">
              <a:lumMod val="75000"/>
            </a:schemeClr>
          </a:solidFill>
        </p:grpSpPr>
        <p:sp>
          <p:nvSpPr>
            <p:cNvPr id="214" name="CustomShape 19">
              <a:extLst>
                <a:ext uri="{FF2B5EF4-FFF2-40B4-BE49-F238E27FC236}">
                  <a16:creationId xmlns:a16="http://schemas.microsoft.com/office/drawing/2014/main" id="{9183622A-3BB1-45C0-D261-A077378F8D4F}"/>
                </a:ext>
              </a:extLst>
            </p:cNvPr>
            <p:cNvSpPr>
              <a:spLocks/>
            </p:cNvSpPr>
            <p:nvPr/>
          </p:nvSpPr>
          <p:spPr>
            <a:xfrm>
              <a:off x="320222" y="3908443"/>
              <a:ext cx="6737706" cy="986951"/>
            </a:xfrm>
            <a:prstGeom prst="rect">
              <a:avLst/>
            </a:prstGeom>
            <a:grpFill/>
            <a:ln w="9360">
              <a:solidFill>
                <a:schemeClr val="bg1"/>
              </a:solidFill>
              <a:miter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15" name="CustomShape 20">
              <a:extLst>
                <a:ext uri="{FF2B5EF4-FFF2-40B4-BE49-F238E27FC236}">
                  <a16:creationId xmlns:a16="http://schemas.microsoft.com/office/drawing/2014/main" id="{A8D36EFC-B2D1-C071-A2A2-0304F6346971}"/>
                </a:ext>
              </a:extLst>
            </p:cNvPr>
            <p:cNvSpPr>
              <a:spLocks/>
            </p:cNvSpPr>
            <p:nvPr/>
          </p:nvSpPr>
          <p:spPr>
            <a:xfrm>
              <a:off x="320222" y="4021170"/>
              <a:ext cx="6737706" cy="874189"/>
            </a:xfrm>
            <a:prstGeom prst="rect">
              <a:avLst/>
            </a:prstGeom>
            <a:noFill/>
            <a:ln w="936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37969" tIns="18985" rIns="37969" bIns="18985"/>
            <a:lstStyle/>
            <a:p>
              <a:pPr>
                <a:lnSpc>
                  <a:spcPct val="100000"/>
                </a:lnSpc>
              </a:pPr>
              <a:r>
                <a:rPr lang="en-US" sz="2700" b="1" spc="-1" dirty="0">
                  <a:solidFill>
                    <a:schemeClr val="bg1"/>
                  </a:solidFill>
                  <a:uFill>
                    <a:solidFill>
                      <a:srgbClr val="FFFFFF"/>
                    </a:solidFill>
                  </a:uFill>
                  <a:latin typeface="Calibri" panose="020F0502020204030204" pitchFamily="34" charset="0"/>
                  <a:cs typeface="Calibri" panose="020F0502020204030204" pitchFamily="34" charset="0"/>
                </a:rPr>
                <a:t>          Bacterial foundational models need improvement</a:t>
              </a:r>
              <a:endParaRPr lang="en-US" sz="2700" spc="-1" dirty="0">
                <a:solidFill>
                  <a:schemeClr val="bg1"/>
                </a:solidFill>
                <a:uFill>
                  <a:solidFill>
                    <a:srgbClr val="FFFFFF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DB9B132A-F166-8318-44AD-36321280A7D9}"/>
              </a:ext>
            </a:extLst>
          </p:cNvPr>
          <p:cNvGrpSpPr/>
          <p:nvPr/>
        </p:nvGrpSpPr>
        <p:grpSpPr>
          <a:xfrm>
            <a:off x="9869490" y="13815444"/>
            <a:ext cx="16129602" cy="659811"/>
            <a:chOff x="320222" y="3934800"/>
            <a:chExt cx="6737706" cy="963062"/>
          </a:xfrm>
          <a:solidFill>
            <a:schemeClr val="accent1">
              <a:lumMod val="75000"/>
            </a:schemeClr>
          </a:solidFill>
        </p:grpSpPr>
        <p:sp>
          <p:nvSpPr>
            <p:cNvPr id="220" name="CustomShape 19">
              <a:extLst>
                <a:ext uri="{FF2B5EF4-FFF2-40B4-BE49-F238E27FC236}">
                  <a16:creationId xmlns:a16="http://schemas.microsoft.com/office/drawing/2014/main" id="{7E81DDF3-B0B6-0970-2645-AF6D08ABE1C2}"/>
                </a:ext>
              </a:extLst>
            </p:cNvPr>
            <p:cNvSpPr>
              <a:spLocks/>
            </p:cNvSpPr>
            <p:nvPr/>
          </p:nvSpPr>
          <p:spPr>
            <a:xfrm>
              <a:off x="320222" y="3934800"/>
              <a:ext cx="6737706" cy="801680"/>
            </a:xfrm>
            <a:prstGeom prst="rect">
              <a:avLst/>
            </a:prstGeom>
            <a:grpFill/>
            <a:ln w="9360">
              <a:solidFill>
                <a:schemeClr val="bg1"/>
              </a:solidFill>
              <a:miter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23" name="CustomShape 20">
              <a:extLst>
                <a:ext uri="{FF2B5EF4-FFF2-40B4-BE49-F238E27FC236}">
                  <a16:creationId xmlns:a16="http://schemas.microsoft.com/office/drawing/2014/main" id="{BAADD263-BD9F-BF09-70B0-5D4EC6B74127}"/>
                </a:ext>
              </a:extLst>
            </p:cNvPr>
            <p:cNvSpPr>
              <a:spLocks/>
            </p:cNvSpPr>
            <p:nvPr/>
          </p:nvSpPr>
          <p:spPr>
            <a:xfrm>
              <a:off x="320222" y="4023672"/>
              <a:ext cx="6737706" cy="874190"/>
            </a:xfrm>
            <a:prstGeom prst="rect">
              <a:avLst/>
            </a:prstGeom>
            <a:noFill/>
            <a:ln w="936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37969" tIns="18985" rIns="37969" bIns="18985"/>
            <a:lstStyle/>
            <a:p>
              <a:pPr algn="ctr">
                <a:lnSpc>
                  <a:spcPct val="100000"/>
                </a:lnSpc>
              </a:pPr>
              <a:r>
                <a:rPr lang="en-US" sz="2700" b="1" spc="-1" dirty="0">
                  <a:solidFill>
                    <a:schemeClr val="bg1"/>
                  </a:solidFill>
                  <a:uFill>
                    <a:solidFill>
                      <a:srgbClr val="FFFFFF"/>
                    </a:solidFill>
                  </a:uFill>
                  <a:latin typeface="Calibri" panose="020F0502020204030204" pitchFamily="34" charset="0"/>
                  <a:ea typeface="DejaVu Sans"/>
                  <a:cs typeface="Calibri" panose="020F0502020204030204" pitchFamily="34" charset="0"/>
                </a:rPr>
                <a:t> Results show minimal generalizability to bacteria</a:t>
              </a:r>
              <a:endParaRPr lang="en-US" sz="2700" spc="-1" dirty="0">
                <a:solidFill>
                  <a:schemeClr val="bg1"/>
                </a:solidFill>
                <a:uFill>
                  <a:solidFill>
                    <a:srgbClr val="FFFFFF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522" name="Group 521">
            <a:extLst>
              <a:ext uri="{FF2B5EF4-FFF2-40B4-BE49-F238E27FC236}">
                <a16:creationId xmlns:a16="http://schemas.microsoft.com/office/drawing/2014/main" id="{6396092B-B643-8F2A-5765-23EB5D43AE4E}"/>
              </a:ext>
            </a:extLst>
          </p:cNvPr>
          <p:cNvGrpSpPr/>
          <p:nvPr/>
        </p:nvGrpSpPr>
        <p:grpSpPr>
          <a:xfrm>
            <a:off x="26783535" y="25139963"/>
            <a:ext cx="9442843" cy="568607"/>
            <a:chOff x="320222" y="3908443"/>
            <a:chExt cx="6737706" cy="986951"/>
          </a:xfrm>
          <a:solidFill>
            <a:schemeClr val="accent1">
              <a:lumMod val="75000"/>
            </a:schemeClr>
          </a:solidFill>
        </p:grpSpPr>
        <p:sp>
          <p:nvSpPr>
            <p:cNvPr id="523" name="CustomShape 19">
              <a:extLst>
                <a:ext uri="{FF2B5EF4-FFF2-40B4-BE49-F238E27FC236}">
                  <a16:creationId xmlns:a16="http://schemas.microsoft.com/office/drawing/2014/main" id="{CCE4F635-23C6-E14D-390A-5050BBAADFC2}"/>
                </a:ext>
              </a:extLst>
            </p:cNvPr>
            <p:cNvSpPr>
              <a:spLocks/>
            </p:cNvSpPr>
            <p:nvPr/>
          </p:nvSpPr>
          <p:spPr>
            <a:xfrm>
              <a:off x="320222" y="3908443"/>
              <a:ext cx="6737706" cy="986951"/>
            </a:xfrm>
            <a:prstGeom prst="rect">
              <a:avLst/>
            </a:prstGeom>
            <a:grpFill/>
            <a:ln w="9360">
              <a:solidFill>
                <a:schemeClr val="bg1"/>
              </a:solidFill>
              <a:miter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524" name="CustomShape 20">
              <a:extLst>
                <a:ext uri="{FF2B5EF4-FFF2-40B4-BE49-F238E27FC236}">
                  <a16:creationId xmlns:a16="http://schemas.microsoft.com/office/drawing/2014/main" id="{1F85CAA9-C112-C763-B2F4-7DC2F3E91A63}"/>
                </a:ext>
              </a:extLst>
            </p:cNvPr>
            <p:cNvSpPr>
              <a:spLocks/>
            </p:cNvSpPr>
            <p:nvPr/>
          </p:nvSpPr>
          <p:spPr>
            <a:xfrm>
              <a:off x="320222" y="3986667"/>
              <a:ext cx="6737706" cy="874189"/>
            </a:xfrm>
            <a:prstGeom prst="rect">
              <a:avLst/>
            </a:prstGeom>
            <a:noFill/>
            <a:ln w="936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37969" tIns="18985" rIns="37969" bIns="18985"/>
            <a:lstStyle/>
            <a:p>
              <a:pPr>
                <a:lnSpc>
                  <a:spcPct val="100000"/>
                </a:lnSpc>
              </a:pPr>
              <a:r>
                <a:rPr lang="en-US" sz="2700" b="1" spc="-1" dirty="0">
                  <a:solidFill>
                    <a:schemeClr val="bg1"/>
                  </a:solidFill>
                  <a:uFill>
                    <a:solidFill>
                      <a:srgbClr val="FFFFFF"/>
                    </a:solidFill>
                  </a:uFill>
                  <a:latin typeface="Calibri" panose="020F0502020204030204" pitchFamily="34" charset="0"/>
                  <a:cs typeface="Calibri" panose="020F0502020204030204" pitchFamily="34" charset="0"/>
                </a:rPr>
                <a:t>	     Citations</a:t>
              </a:r>
              <a:endParaRPr lang="en-US" sz="2700" spc="-1" dirty="0">
                <a:solidFill>
                  <a:schemeClr val="bg1"/>
                </a:solidFill>
                <a:uFill>
                  <a:solidFill>
                    <a:srgbClr val="FFFFFF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535" name="TextBox 534">
            <a:extLst>
              <a:ext uri="{FF2B5EF4-FFF2-40B4-BE49-F238E27FC236}">
                <a16:creationId xmlns:a16="http://schemas.microsoft.com/office/drawing/2014/main" id="{E3041884-86C8-F5AC-17B1-9F07CB216272}"/>
              </a:ext>
            </a:extLst>
          </p:cNvPr>
          <p:cNvSpPr txBox="1"/>
          <p:nvPr/>
        </p:nvSpPr>
        <p:spPr>
          <a:xfrm>
            <a:off x="912159" y="11491563"/>
            <a:ext cx="8254100" cy="193899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Genomic sequence-to-function (seq2func) models predict biological activity (RNA expression, chromatin accessibility, transcription factor binding,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etc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) from genomic DNA sequences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>
                <a:latin typeface="Calibri" panose="020F0502020204030204" pitchFamily="34" charset="0"/>
                <a:cs typeface="Calibri" panose="020F0502020204030204" pitchFamily="34" charset="0"/>
              </a:rPr>
              <a:t>AlphaGenome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is a state of the art seq2func model [3].</a:t>
            </a:r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D2F4BEC3-AC59-CBD4-D15B-5A5C4354EBC5}"/>
              </a:ext>
            </a:extLst>
          </p:cNvPr>
          <p:cNvSpPr/>
          <p:nvPr/>
        </p:nvSpPr>
        <p:spPr>
          <a:xfrm>
            <a:off x="32556516" y="185894"/>
            <a:ext cx="3913296" cy="1911709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87" name="Picture 586" descr="A picture containing shape&#10;&#10;Description automatically generated">
            <a:extLst>
              <a:ext uri="{FF2B5EF4-FFF2-40B4-BE49-F238E27FC236}">
                <a16:creationId xmlns:a16="http://schemas.microsoft.com/office/drawing/2014/main" id="{0318C46C-C72C-9C2C-A992-A39205B5A3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21816" y="450472"/>
            <a:ext cx="3591312" cy="1413602"/>
          </a:xfrm>
          <a:prstGeom prst="rect">
            <a:avLst/>
          </a:prstGeom>
        </p:spPr>
      </p:pic>
      <p:grpSp>
        <p:nvGrpSpPr>
          <p:cNvPr id="592" name="Group 591">
            <a:extLst>
              <a:ext uri="{FF2B5EF4-FFF2-40B4-BE49-F238E27FC236}">
                <a16:creationId xmlns:a16="http://schemas.microsoft.com/office/drawing/2014/main" id="{7F91EBEE-C054-320F-C8E0-554E7B5ACE7F}"/>
              </a:ext>
            </a:extLst>
          </p:cNvPr>
          <p:cNvGrpSpPr/>
          <p:nvPr/>
        </p:nvGrpSpPr>
        <p:grpSpPr>
          <a:xfrm>
            <a:off x="300014" y="2587065"/>
            <a:ext cx="990306" cy="968578"/>
            <a:chOff x="198414" y="2587065"/>
            <a:chExt cx="990306" cy="968578"/>
          </a:xfrm>
        </p:grpSpPr>
        <p:sp>
          <p:nvSpPr>
            <p:cNvPr id="590" name="Oval 589">
              <a:extLst>
                <a:ext uri="{FF2B5EF4-FFF2-40B4-BE49-F238E27FC236}">
                  <a16:creationId xmlns:a16="http://schemas.microsoft.com/office/drawing/2014/main" id="{95FCB3C1-0782-94AD-E62F-F0F647BD96B6}"/>
                </a:ext>
              </a:extLst>
            </p:cNvPr>
            <p:cNvSpPr/>
            <p:nvPr/>
          </p:nvSpPr>
          <p:spPr>
            <a:xfrm>
              <a:off x="198414" y="2587065"/>
              <a:ext cx="990306" cy="968578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1" name="TextBox 590">
              <a:extLst>
                <a:ext uri="{FF2B5EF4-FFF2-40B4-BE49-F238E27FC236}">
                  <a16:creationId xmlns:a16="http://schemas.microsoft.com/office/drawing/2014/main" id="{0299612D-4093-C28A-24C0-85DFD9F578CD}"/>
                </a:ext>
              </a:extLst>
            </p:cNvPr>
            <p:cNvSpPr txBox="1"/>
            <p:nvPr/>
          </p:nvSpPr>
          <p:spPr>
            <a:xfrm>
              <a:off x="448485" y="2637791"/>
              <a:ext cx="497252" cy="830997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800" dirty="0">
                  <a:solidFill>
                    <a:schemeClr val="tx2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</p:grpSp>
      <p:grpSp>
        <p:nvGrpSpPr>
          <p:cNvPr id="593" name="Group 592">
            <a:extLst>
              <a:ext uri="{FF2B5EF4-FFF2-40B4-BE49-F238E27FC236}">
                <a16:creationId xmlns:a16="http://schemas.microsoft.com/office/drawing/2014/main" id="{194B460F-4009-2301-E82B-44D2A44CA3C6}"/>
              </a:ext>
            </a:extLst>
          </p:cNvPr>
          <p:cNvGrpSpPr/>
          <p:nvPr/>
        </p:nvGrpSpPr>
        <p:grpSpPr>
          <a:xfrm>
            <a:off x="199906" y="10384812"/>
            <a:ext cx="990306" cy="968578"/>
            <a:chOff x="198414" y="2587065"/>
            <a:chExt cx="990306" cy="968578"/>
          </a:xfrm>
        </p:grpSpPr>
        <p:sp>
          <p:nvSpPr>
            <p:cNvPr id="594" name="Oval 593">
              <a:extLst>
                <a:ext uri="{FF2B5EF4-FFF2-40B4-BE49-F238E27FC236}">
                  <a16:creationId xmlns:a16="http://schemas.microsoft.com/office/drawing/2014/main" id="{953F4DC6-B00A-5576-55D8-54415AE1A6AF}"/>
                </a:ext>
              </a:extLst>
            </p:cNvPr>
            <p:cNvSpPr/>
            <p:nvPr/>
          </p:nvSpPr>
          <p:spPr>
            <a:xfrm>
              <a:off x="198414" y="2587065"/>
              <a:ext cx="990306" cy="968578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5" name="TextBox 594">
              <a:extLst>
                <a:ext uri="{FF2B5EF4-FFF2-40B4-BE49-F238E27FC236}">
                  <a16:creationId xmlns:a16="http://schemas.microsoft.com/office/drawing/2014/main" id="{1F92C089-FF97-814A-8045-26CA701F2125}"/>
                </a:ext>
              </a:extLst>
            </p:cNvPr>
            <p:cNvSpPr txBox="1"/>
            <p:nvPr/>
          </p:nvSpPr>
          <p:spPr>
            <a:xfrm>
              <a:off x="449287" y="2637791"/>
              <a:ext cx="497252" cy="830997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800" dirty="0">
                  <a:solidFill>
                    <a:schemeClr val="tx2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</p:grpSp>
      <p:grpSp>
        <p:nvGrpSpPr>
          <p:cNvPr id="602" name="Group 601">
            <a:extLst>
              <a:ext uri="{FF2B5EF4-FFF2-40B4-BE49-F238E27FC236}">
                <a16:creationId xmlns:a16="http://schemas.microsoft.com/office/drawing/2014/main" id="{24327789-5721-0AB6-AEDC-EBDD67DF838A}"/>
              </a:ext>
            </a:extLst>
          </p:cNvPr>
          <p:cNvGrpSpPr/>
          <p:nvPr/>
        </p:nvGrpSpPr>
        <p:grpSpPr>
          <a:xfrm>
            <a:off x="9846454" y="2594503"/>
            <a:ext cx="990306" cy="968578"/>
            <a:chOff x="198414" y="2587065"/>
            <a:chExt cx="990306" cy="968578"/>
          </a:xfrm>
        </p:grpSpPr>
        <p:sp>
          <p:nvSpPr>
            <p:cNvPr id="603" name="Oval 602">
              <a:extLst>
                <a:ext uri="{FF2B5EF4-FFF2-40B4-BE49-F238E27FC236}">
                  <a16:creationId xmlns:a16="http://schemas.microsoft.com/office/drawing/2014/main" id="{6C9D73A2-80B4-E963-77B8-AED5044AE16D}"/>
                </a:ext>
              </a:extLst>
            </p:cNvPr>
            <p:cNvSpPr/>
            <p:nvPr/>
          </p:nvSpPr>
          <p:spPr>
            <a:xfrm>
              <a:off x="198414" y="2587065"/>
              <a:ext cx="990306" cy="968578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4" name="TextBox 603">
              <a:extLst>
                <a:ext uri="{FF2B5EF4-FFF2-40B4-BE49-F238E27FC236}">
                  <a16:creationId xmlns:a16="http://schemas.microsoft.com/office/drawing/2014/main" id="{E96984AD-7472-92D9-28DF-41C02C5CF9A7}"/>
                </a:ext>
              </a:extLst>
            </p:cNvPr>
            <p:cNvSpPr txBox="1"/>
            <p:nvPr/>
          </p:nvSpPr>
          <p:spPr>
            <a:xfrm>
              <a:off x="439127" y="2637791"/>
              <a:ext cx="497252" cy="830997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800" dirty="0">
                  <a:solidFill>
                    <a:schemeClr val="tx2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</p:grpSp>
      <p:grpSp>
        <p:nvGrpSpPr>
          <p:cNvPr id="608" name="Group 607">
            <a:extLst>
              <a:ext uri="{FF2B5EF4-FFF2-40B4-BE49-F238E27FC236}">
                <a16:creationId xmlns:a16="http://schemas.microsoft.com/office/drawing/2014/main" id="{D298E337-A42D-8A8E-A9FA-6A9373772E3C}"/>
              </a:ext>
            </a:extLst>
          </p:cNvPr>
          <p:cNvGrpSpPr/>
          <p:nvPr/>
        </p:nvGrpSpPr>
        <p:grpSpPr>
          <a:xfrm>
            <a:off x="9587630" y="13569940"/>
            <a:ext cx="990306" cy="968578"/>
            <a:chOff x="198414" y="2587065"/>
            <a:chExt cx="990306" cy="968578"/>
          </a:xfrm>
        </p:grpSpPr>
        <p:sp>
          <p:nvSpPr>
            <p:cNvPr id="609" name="Oval 608">
              <a:extLst>
                <a:ext uri="{FF2B5EF4-FFF2-40B4-BE49-F238E27FC236}">
                  <a16:creationId xmlns:a16="http://schemas.microsoft.com/office/drawing/2014/main" id="{6C79B840-B34A-F82A-E632-B4641CC7ACE4}"/>
                </a:ext>
              </a:extLst>
            </p:cNvPr>
            <p:cNvSpPr/>
            <p:nvPr/>
          </p:nvSpPr>
          <p:spPr>
            <a:xfrm>
              <a:off x="198414" y="2587065"/>
              <a:ext cx="990306" cy="968578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0" name="TextBox 609">
              <a:extLst>
                <a:ext uri="{FF2B5EF4-FFF2-40B4-BE49-F238E27FC236}">
                  <a16:creationId xmlns:a16="http://schemas.microsoft.com/office/drawing/2014/main" id="{81607A6B-196E-4BD7-79D9-AB688C61C2B4}"/>
                </a:ext>
              </a:extLst>
            </p:cNvPr>
            <p:cNvSpPr txBox="1"/>
            <p:nvPr/>
          </p:nvSpPr>
          <p:spPr>
            <a:xfrm>
              <a:off x="449287" y="2637791"/>
              <a:ext cx="497252" cy="830997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800" dirty="0">
                  <a:solidFill>
                    <a:schemeClr val="tx2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</p:grpSp>
      <p:grpSp>
        <p:nvGrpSpPr>
          <p:cNvPr id="611" name="Group 610">
            <a:extLst>
              <a:ext uri="{FF2B5EF4-FFF2-40B4-BE49-F238E27FC236}">
                <a16:creationId xmlns:a16="http://schemas.microsoft.com/office/drawing/2014/main" id="{0A61A665-7A71-0CAF-2192-762248AD752F}"/>
              </a:ext>
            </a:extLst>
          </p:cNvPr>
          <p:cNvGrpSpPr/>
          <p:nvPr/>
        </p:nvGrpSpPr>
        <p:grpSpPr>
          <a:xfrm>
            <a:off x="26524699" y="2732544"/>
            <a:ext cx="990306" cy="968578"/>
            <a:chOff x="198414" y="2587065"/>
            <a:chExt cx="990306" cy="968578"/>
          </a:xfrm>
        </p:grpSpPr>
        <p:sp>
          <p:nvSpPr>
            <p:cNvPr id="612" name="Oval 611">
              <a:extLst>
                <a:ext uri="{FF2B5EF4-FFF2-40B4-BE49-F238E27FC236}">
                  <a16:creationId xmlns:a16="http://schemas.microsoft.com/office/drawing/2014/main" id="{565EBC42-6043-11EF-B40D-BC7FC0DDC8F9}"/>
                </a:ext>
              </a:extLst>
            </p:cNvPr>
            <p:cNvSpPr/>
            <p:nvPr/>
          </p:nvSpPr>
          <p:spPr>
            <a:xfrm>
              <a:off x="198414" y="2587065"/>
              <a:ext cx="990306" cy="968578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3" name="TextBox 612">
              <a:extLst>
                <a:ext uri="{FF2B5EF4-FFF2-40B4-BE49-F238E27FC236}">
                  <a16:creationId xmlns:a16="http://schemas.microsoft.com/office/drawing/2014/main" id="{43638802-F4E4-435D-7BE4-B4687611A55A}"/>
                </a:ext>
              </a:extLst>
            </p:cNvPr>
            <p:cNvSpPr txBox="1"/>
            <p:nvPr/>
          </p:nvSpPr>
          <p:spPr>
            <a:xfrm>
              <a:off x="449287" y="2637791"/>
              <a:ext cx="497252" cy="830997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800" dirty="0">
                  <a:solidFill>
                    <a:schemeClr val="tx2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</p:grpSp>
      <p:grpSp>
        <p:nvGrpSpPr>
          <p:cNvPr id="614" name="Group 613">
            <a:extLst>
              <a:ext uri="{FF2B5EF4-FFF2-40B4-BE49-F238E27FC236}">
                <a16:creationId xmlns:a16="http://schemas.microsoft.com/office/drawing/2014/main" id="{1E65BC6B-BA70-7E57-25F1-602CD7A664B1}"/>
              </a:ext>
            </a:extLst>
          </p:cNvPr>
          <p:cNvGrpSpPr/>
          <p:nvPr/>
        </p:nvGrpSpPr>
        <p:grpSpPr>
          <a:xfrm>
            <a:off x="26402556" y="18436627"/>
            <a:ext cx="990306" cy="968578"/>
            <a:chOff x="198414" y="2587065"/>
            <a:chExt cx="990306" cy="968578"/>
          </a:xfrm>
        </p:grpSpPr>
        <p:sp>
          <p:nvSpPr>
            <p:cNvPr id="615" name="Oval 614">
              <a:extLst>
                <a:ext uri="{FF2B5EF4-FFF2-40B4-BE49-F238E27FC236}">
                  <a16:creationId xmlns:a16="http://schemas.microsoft.com/office/drawing/2014/main" id="{A3381CC6-C6C0-7D0E-D6B2-27A3553CC378}"/>
                </a:ext>
              </a:extLst>
            </p:cNvPr>
            <p:cNvSpPr/>
            <p:nvPr/>
          </p:nvSpPr>
          <p:spPr>
            <a:xfrm>
              <a:off x="198414" y="2587065"/>
              <a:ext cx="990306" cy="968578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7" name="TextBox 616">
              <a:extLst>
                <a:ext uri="{FF2B5EF4-FFF2-40B4-BE49-F238E27FC236}">
                  <a16:creationId xmlns:a16="http://schemas.microsoft.com/office/drawing/2014/main" id="{6FE8626C-97FA-5D73-FD19-641DD9C81518}"/>
                </a:ext>
              </a:extLst>
            </p:cNvPr>
            <p:cNvSpPr txBox="1"/>
            <p:nvPr/>
          </p:nvSpPr>
          <p:spPr>
            <a:xfrm>
              <a:off x="449287" y="2637791"/>
              <a:ext cx="497252" cy="830997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800" dirty="0">
                  <a:solidFill>
                    <a:schemeClr val="tx2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</p:grpSp>
      <p:grpSp>
        <p:nvGrpSpPr>
          <p:cNvPr id="622" name="Group 621">
            <a:extLst>
              <a:ext uri="{FF2B5EF4-FFF2-40B4-BE49-F238E27FC236}">
                <a16:creationId xmlns:a16="http://schemas.microsoft.com/office/drawing/2014/main" id="{C83C575C-6229-E0A4-1B95-C9B441DF3125}"/>
              </a:ext>
            </a:extLst>
          </p:cNvPr>
          <p:cNvGrpSpPr/>
          <p:nvPr/>
        </p:nvGrpSpPr>
        <p:grpSpPr>
          <a:xfrm>
            <a:off x="26456330" y="24981338"/>
            <a:ext cx="990306" cy="968578"/>
            <a:chOff x="198414" y="2587065"/>
            <a:chExt cx="990306" cy="968578"/>
          </a:xfrm>
        </p:grpSpPr>
        <p:sp>
          <p:nvSpPr>
            <p:cNvPr id="624" name="Oval 623">
              <a:extLst>
                <a:ext uri="{FF2B5EF4-FFF2-40B4-BE49-F238E27FC236}">
                  <a16:creationId xmlns:a16="http://schemas.microsoft.com/office/drawing/2014/main" id="{F3792E57-4DBF-AB5A-B630-B4E152D9E51A}"/>
                </a:ext>
              </a:extLst>
            </p:cNvPr>
            <p:cNvSpPr/>
            <p:nvPr/>
          </p:nvSpPr>
          <p:spPr>
            <a:xfrm>
              <a:off x="198414" y="2587065"/>
              <a:ext cx="990306" cy="968578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5" name="TextBox 624">
              <a:extLst>
                <a:ext uri="{FF2B5EF4-FFF2-40B4-BE49-F238E27FC236}">
                  <a16:creationId xmlns:a16="http://schemas.microsoft.com/office/drawing/2014/main" id="{9A6AF4AF-7816-8237-3F40-A5117A299971}"/>
                </a:ext>
              </a:extLst>
            </p:cNvPr>
            <p:cNvSpPr txBox="1"/>
            <p:nvPr/>
          </p:nvSpPr>
          <p:spPr>
            <a:xfrm>
              <a:off x="449288" y="2637791"/>
              <a:ext cx="497251" cy="830997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800" dirty="0">
                  <a:solidFill>
                    <a:schemeClr val="tx2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</p:grpSp>
      <p:sp>
        <p:nvSpPr>
          <p:cNvPr id="634" name="TextBox 633">
            <a:extLst>
              <a:ext uri="{FF2B5EF4-FFF2-40B4-BE49-F238E27FC236}">
                <a16:creationId xmlns:a16="http://schemas.microsoft.com/office/drawing/2014/main" id="{71961D06-0E95-18B1-B30E-0170462FA8D9}"/>
              </a:ext>
            </a:extLst>
          </p:cNvPr>
          <p:cNvSpPr txBox="1"/>
          <p:nvPr/>
        </p:nvSpPr>
        <p:spPr>
          <a:xfrm>
            <a:off x="27144643" y="19662995"/>
            <a:ext cx="9180329" cy="594008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Systematic testing and benchmarking of seq2func models on bacteria</a:t>
            </a:r>
          </a:p>
          <a:p>
            <a:pPr marL="9144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Testing different bacterial species and organisms</a:t>
            </a:r>
          </a:p>
          <a:p>
            <a:pPr marL="9144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Different biological activity targets </a:t>
            </a:r>
          </a:p>
          <a:p>
            <a:pPr marL="14859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RNA expression</a:t>
            </a:r>
          </a:p>
          <a:p>
            <a:pPr marL="14859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Splicing</a:t>
            </a:r>
          </a:p>
          <a:p>
            <a:pPr marL="14859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TF-binding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Improved bacterial seq2func models</a:t>
            </a:r>
          </a:p>
          <a:p>
            <a:pPr marL="9144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Bacterial genomic aware context windows</a:t>
            </a:r>
          </a:p>
          <a:p>
            <a:pPr marL="9144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Environmental embeddings</a:t>
            </a:r>
          </a:p>
          <a:p>
            <a:pPr marL="9144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Bacterial specific biological activity prediction</a:t>
            </a:r>
          </a:p>
          <a:p>
            <a:pPr marL="14859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Operon-aware predictions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Application of seq2func models towards antibiotic resistant bacteria</a:t>
            </a:r>
          </a:p>
          <a:p>
            <a:pPr marL="9144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Monitoring of emergent strains</a:t>
            </a:r>
          </a:p>
          <a:p>
            <a:pPr marL="9144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Antibiotic design and selection</a:t>
            </a:r>
          </a:p>
          <a:p>
            <a:pPr lvl="2"/>
            <a:endParaRPr 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485900" lvl="2" indent="-342900">
              <a:buFont typeface="Arial" panose="020B0604020202020204" pitchFamily="34" charset="0"/>
              <a:buChar char="•"/>
            </a:pPr>
            <a:endParaRPr 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26" name="TextBox 625">
            <a:extLst>
              <a:ext uri="{FF2B5EF4-FFF2-40B4-BE49-F238E27FC236}">
                <a16:creationId xmlns:a16="http://schemas.microsoft.com/office/drawing/2014/main" id="{AE9C3D2D-E25B-A9CC-C7A5-E6C1825A754C}"/>
              </a:ext>
            </a:extLst>
          </p:cNvPr>
          <p:cNvSpPr txBox="1"/>
          <p:nvPr/>
        </p:nvSpPr>
        <p:spPr>
          <a:xfrm>
            <a:off x="27101577" y="25989850"/>
            <a:ext cx="9077995" cy="504753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457200" indent="-457200">
              <a:buFontTx/>
              <a:buAutoNum type="arabicPeriod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Center for Disease Control and Prevention. Antimicrobial Resistance Fact and Stats. Feb 4, 2025</a:t>
            </a:r>
            <a:r>
              <a:rPr lang="en-US" sz="200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2000">
                <a:latin typeface="Calibri" panose="020F0502020204030204" pitchFamily="34" charset="0"/>
                <a:cs typeface="Calibri" panose="020F050202020403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://www.cdc.gov/antimicrobial-resistance/data-research/facts-stats/index.html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AutoNum type="arabicPeriod"/>
            </a:pP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Coculescu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BI. Antimicrobial resistance induced by genetic changes. J Med Life. 2009 Apr-Jun;2(2):114-23. PMID: 20108530; PMCID: PMC3018982. </a:t>
            </a:r>
          </a:p>
          <a:p>
            <a:pPr marL="457200" indent="-457200">
              <a:buAutoNum type="arabicPeriod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Avsec Ž,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Latysheva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N, Cheng J, et al. Advancing regulatory variant effect prediction with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AlphaGenome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Nature. 2026;649:1206–18. 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https://doi.org/10.1038/s41586-025-10014-0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marL="457200" indent="-457200">
              <a:buAutoNum type="arabicPeriod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Eric Nguyen </a:t>
            </a:r>
            <a:r>
              <a:rPr lang="en-US" sz="2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et al.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Sequence modeling and design from molecular to genome scale with Evo.</a:t>
            </a:r>
            <a:r>
              <a:rPr lang="en-US" sz="2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Science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386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,eado9336(2024).DOI: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10.1126/science.ado9336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AutoNum type="arabicPeriod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multi-scale transcriptional regulatory network knowledge base for </a:t>
            </a:r>
            <a:r>
              <a:rPr lang="en-US" sz="2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Escherichia coli.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Cameron R. Lamoureux, Katherine T. Decker, Anand V. Sastry, Kevin Rychel, Ye Gao, John Luke McConn, Daniel C. Zielinski, Bernhard O. Palsson bioRxiv 2021.04.08.439047; 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doi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 https://doi.org/10.1101/2021.04.08.439047 </a:t>
            </a:r>
          </a:p>
          <a:p>
            <a:endParaRPr 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" name="Picture 10" descr="Renaissance School of Medicine at Stony Brook University - Wikipedia">
            <a:extLst>
              <a:ext uri="{FF2B5EF4-FFF2-40B4-BE49-F238E27FC236}">
                <a16:creationId xmlns:a16="http://schemas.microsoft.com/office/drawing/2014/main" id="{8E6C77E4-0CE6-3FBD-FC9C-4B7AEAE09E8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08941" y="182126"/>
            <a:ext cx="2853752" cy="1881822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413B6035-F7F9-9948-970F-0416B10D99DE}"/>
              </a:ext>
            </a:extLst>
          </p:cNvPr>
          <p:cNvSpPr txBox="1"/>
          <p:nvPr/>
        </p:nvSpPr>
        <p:spPr>
          <a:xfrm>
            <a:off x="1029554" y="3683467"/>
            <a:ext cx="8408103" cy="3470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1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Bacterial infections are a major cause of hospitalizations and deaths globally</a:t>
            </a:r>
          </a:p>
          <a:p>
            <a:pPr marL="342900" indent="-342900">
              <a:spcAft>
                <a:spcPts val="11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In the United States, more than 3 million bacterial infections and 48 thousand infection-related deaths occur each year [1].</a:t>
            </a:r>
          </a:p>
          <a:p>
            <a:pPr marL="342900" indent="-342900">
              <a:spcAft>
                <a:spcPts val="11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Despite dedicated prevention and infection control efforts, antibiotic resistance is a major rising concern.</a:t>
            </a:r>
          </a:p>
          <a:p>
            <a:pPr marL="342900" indent="-342900">
              <a:spcAft>
                <a:spcPts val="11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Genetic mutations in bacteria is one of the primary methods antibiotic resistance is developed [2].</a:t>
            </a:r>
          </a:p>
        </p:txBody>
      </p:sp>
      <p:pic>
        <p:nvPicPr>
          <p:cNvPr id="224" name="Picture 223" descr="What is antibiotic resistance? | Science Museum">
            <a:extLst>
              <a:ext uri="{FF2B5EF4-FFF2-40B4-BE49-F238E27FC236}">
                <a16:creationId xmlns:a16="http://schemas.microsoft.com/office/drawing/2014/main" id="{ADC7A6F9-D087-16DD-9452-15F0BD9EA59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54826" y="7137161"/>
            <a:ext cx="4424484" cy="3433400"/>
          </a:xfrm>
          <a:prstGeom prst="rect">
            <a:avLst/>
          </a:prstGeom>
        </p:spPr>
      </p:pic>
      <p:sp>
        <p:nvSpPr>
          <p:cNvPr id="229" name="TextBox 228">
            <a:extLst>
              <a:ext uri="{FF2B5EF4-FFF2-40B4-BE49-F238E27FC236}">
                <a16:creationId xmlns:a16="http://schemas.microsoft.com/office/drawing/2014/main" id="{FA57B5EA-DABD-865D-2E92-41082C1C0513}"/>
              </a:ext>
            </a:extLst>
          </p:cNvPr>
          <p:cNvSpPr txBox="1"/>
          <p:nvPr/>
        </p:nvSpPr>
        <p:spPr>
          <a:xfrm>
            <a:off x="9120188" y="16297059"/>
            <a:ext cx="18316574" cy="438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230" name="Picture 229" descr="Fig. 1: Overview of AlphaGenome and variant effect prediction.">
            <a:extLst>
              <a:ext uri="{FF2B5EF4-FFF2-40B4-BE49-F238E27FC236}">
                <a16:creationId xmlns:a16="http://schemas.microsoft.com/office/drawing/2014/main" id="{873EE900-2E11-3475-9D9D-6A223A8EA13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0665" y="13560328"/>
            <a:ext cx="8781721" cy="3331519"/>
          </a:xfrm>
          <a:prstGeom prst="rect">
            <a:avLst/>
          </a:prstGeom>
        </p:spPr>
      </p:pic>
      <p:sp>
        <p:nvSpPr>
          <p:cNvPr id="232" name="TextBox 231">
            <a:extLst>
              <a:ext uri="{FF2B5EF4-FFF2-40B4-BE49-F238E27FC236}">
                <a16:creationId xmlns:a16="http://schemas.microsoft.com/office/drawing/2014/main" id="{FA9D5A47-8B6F-59E9-999B-4853B4BCD0BA}"/>
              </a:ext>
            </a:extLst>
          </p:cNvPr>
          <p:cNvSpPr txBox="1"/>
          <p:nvPr/>
        </p:nvSpPr>
        <p:spPr>
          <a:xfrm>
            <a:off x="912158" y="17647450"/>
            <a:ext cx="72158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Evo 1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is a prokaryotic genomic foundation model [4]</a:t>
            </a:r>
          </a:p>
        </p:txBody>
      </p:sp>
      <p:pic>
        <p:nvPicPr>
          <p:cNvPr id="236" name="Picture 235" descr="Evo: DNA foundation modeling from molecular to genome scale | Arc Institute">
            <a:extLst>
              <a:ext uri="{FF2B5EF4-FFF2-40B4-BE49-F238E27FC236}">
                <a16:creationId xmlns:a16="http://schemas.microsoft.com/office/drawing/2014/main" id="{B50403B2-CBED-6446-5FA2-235986DBDEC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5476" y="18296522"/>
            <a:ext cx="8427466" cy="4842933"/>
          </a:xfrm>
          <a:prstGeom prst="rect">
            <a:avLst/>
          </a:prstGeom>
        </p:spPr>
      </p:pic>
      <p:graphicFrame>
        <p:nvGraphicFramePr>
          <p:cNvPr id="237" name="Table 236">
            <a:extLst>
              <a:ext uri="{FF2B5EF4-FFF2-40B4-BE49-F238E27FC236}">
                <a16:creationId xmlns:a16="http://schemas.microsoft.com/office/drawing/2014/main" id="{DFEC08B1-BD88-86BD-B3BD-6074C82E86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2725066"/>
              </p:ext>
            </p:extLst>
          </p:nvPr>
        </p:nvGraphicFramePr>
        <p:xfrm>
          <a:off x="600922" y="24192243"/>
          <a:ext cx="8734614" cy="43653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67307">
                  <a:extLst>
                    <a:ext uri="{9D8B030D-6E8A-4147-A177-3AD203B41FA5}">
                      <a16:colId xmlns:a16="http://schemas.microsoft.com/office/drawing/2014/main" val="1805941231"/>
                    </a:ext>
                  </a:extLst>
                </a:gridCol>
                <a:gridCol w="4367307">
                  <a:extLst>
                    <a:ext uri="{9D8B030D-6E8A-4147-A177-3AD203B41FA5}">
                      <a16:colId xmlns:a16="http://schemas.microsoft.com/office/drawing/2014/main" val="2128501836"/>
                    </a:ext>
                  </a:extLst>
                </a:gridCol>
              </a:tblGrid>
              <a:tr h="634584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AlphaGenome</a:t>
                      </a:r>
                      <a:endParaRPr lang="en-US" sz="30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Evo 1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7681654"/>
                  </a:ext>
                </a:extLst>
              </a:tr>
              <a:tr h="3730747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Trained on mouse and human genomes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Seq2func model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2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 million bp context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U-net architecture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Primary application: variant effect prediction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2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Trained on bacteria, archaea, phage and plasmid genomes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Both a generative model and a seq2func model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131,072 bp context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Striped Hyena architecture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Primary application: sequence generation, variant effect prediction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9283750"/>
                  </a:ext>
                </a:extLst>
              </a:tr>
            </a:tbl>
          </a:graphicData>
        </a:graphic>
      </p:graphicFrame>
      <p:sp>
        <p:nvSpPr>
          <p:cNvPr id="239" name="TextBox 238">
            <a:extLst>
              <a:ext uri="{FF2B5EF4-FFF2-40B4-BE49-F238E27FC236}">
                <a16:creationId xmlns:a16="http://schemas.microsoft.com/office/drawing/2014/main" id="{87F14A5D-D313-F6FC-2EAA-BF4CB968FA7C}"/>
              </a:ext>
            </a:extLst>
          </p:cNvPr>
          <p:cNvSpPr txBox="1"/>
          <p:nvPr/>
        </p:nvSpPr>
        <p:spPr>
          <a:xfrm>
            <a:off x="665132" y="29625356"/>
            <a:ext cx="84550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Although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AlphaGenome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has been exclusively trained on mammalian genomes, it has demonstrated state-of-the-art generalizability to plants, beating plant-specific models.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E1BC95-FBEF-AB56-9902-B2A4CCB69CA2}"/>
              </a:ext>
            </a:extLst>
          </p:cNvPr>
          <p:cNvSpPr txBox="1"/>
          <p:nvPr/>
        </p:nvSpPr>
        <p:spPr>
          <a:xfrm>
            <a:off x="26775573" y="3714346"/>
            <a:ext cx="9477152" cy="176355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8- fold Cross-Validation Positional Split Data Leakage Quantification</a:t>
            </a:r>
          </a:p>
          <a:p>
            <a:pPr marL="342900" indent="-342900">
              <a:spcAft>
                <a:spcPts val="11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1/1451 groups with shared transcription start site (TSS) was split across folds</a:t>
            </a:r>
          </a:p>
          <a:p>
            <a:pPr marL="342900" indent="-342900">
              <a:spcAft>
                <a:spcPts val="11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7/1179 internal genes were separated from transcription start site across folds</a:t>
            </a:r>
          </a:p>
          <a:p>
            <a:pPr marL="342900" indent="-342900">
              <a:spcAft>
                <a:spcPts val="11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Even with data leakage, </a:t>
            </a:r>
            <a:r>
              <a:rPr lang="el-GR" sz="2400" dirty="0">
                <a:latin typeface="Calibri" panose="020F0502020204030204" pitchFamily="34" charset="0"/>
                <a:cs typeface="Calibri" panose="020F0502020204030204" pitchFamily="34" charset="0"/>
              </a:rPr>
              <a:t>ρ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&lt; 0.45</a:t>
            </a:r>
          </a:p>
          <a:p>
            <a:pPr>
              <a:spcAft>
                <a:spcPts val="1100"/>
              </a:spcAft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1100"/>
              </a:spcAft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Results</a:t>
            </a:r>
          </a:p>
          <a:p>
            <a:pPr marL="342900" indent="-342900">
              <a:spcAft>
                <a:spcPts val="11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Baseline K-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mer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Ridge regression achieves moderate performance (</a:t>
            </a:r>
            <a:r>
              <a:rPr lang="el-GR" sz="2400" dirty="0">
                <a:latin typeface="Calibri" panose="020F0502020204030204" pitchFamily="34" charset="0"/>
                <a:cs typeface="Calibri" panose="020F0502020204030204" pitchFamily="34" charset="0"/>
              </a:rPr>
              <a:t>ρ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=0.323)</a:t>
            </a:r>
          </a:p>
          <a:p>
            <a:pPr marL="342900" indent="-342900">
              <a:spcAft>
                <a:spcPts val="11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With Ridge Regression heads, Evo 1 embeddings (</a:t>
            </a:r>
            <a:r>
              <a:rPr lang="el-GR" sz="2400" dirty="0">
                <a:latin typeface="Calibri" panose="020F0502020204030204" pitchFamily="34" charset="0"/>
                <a:cs typeface="Calibri" panose="020F0502020204030204" pitchFamily="34" charset="0"/>
              </a:rPr>
              <a:t>ρ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=0.385) slightly improves model performance over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AlphaGenome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embeddings (</a:t>
            </a:r>
            <a:r>
              <a:rPr lang="el-GR" sz="2400" dirty="0">
                <a:latin typeface="Calibri" panose="020F0502020204030204" pitchFamily="34" charset="0"/>
                <a:cs typeface="Calibri" panose="020F0502020204030204" pitchFamily="34" charset="0"/>
              </a:rPr>
              <a:t>ρ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=0.385)</a:t>
            </a:r>
          </a:p>
          <a:p>
            <a:pPr marL="342900" indent="-342900">
              <a:spcAft>
                <a:spcPts val="11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Strongest performing model was Evo 1 embeddings with attention-pooling MLP (</a:t>
            </a:r>
            <a:r>
              <a:rPr lang="el-GR" sz="2400" dirty="0">
                <a:latin typeface="Calibri" panose="020F0502020204030204" pitchFamily="34" charset="0"/>
                <a:cs typeface="Calibri" panose="020F0502020204030204" pitchFamily="34" charset="0"/>
              </a:rPr>
              <a:t>ρ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=0.390)</a:t>
            </a:r>
          </a:p>
          <a:p>
            <a:pPr marL="342900" indent="-342900">
              <a:spcAft>
                <a:spcPts val="11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Naïve-windowing achieves better performance than operon-aware windowing</a:t>
            </a:r>
          </a:p>
          <a:p>
            <a:pPr marL="342900" indent="-342900">
              <a:spcAft>
                <a:spcPts val="11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Attention-pooling MLPs and Ridge regression linear probe outperformed the K-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mer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Ridge Regression baseline, whereas mean-pooling MLPs performed worse compared to the baseline</a:t>
            </a:r>
          </a:p>
          <a:p>
            <a:pPr marL="342900" indent="-342900">
              <a:spcAft>
                <a:spcPts val="11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Stratification by gene cluster revealed worse performance on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monocistronic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genes and better performance on operon-first or operon-internal genes</a:t>
            </a:r>
          </a:p>
          <a:p>
            <a:pPr marL="342900" indent="-342900">
              <a:spcAft>
                <a:spcPts val="110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1100"/>
              </a:spcAft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Discussion</a:t>
            </a:r>
          </a:p>
          <a:p>
            <a:pPr marL="342900" indent="-342900">
              <a:spcAft>
                <a:spcPts val="11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This preliminary study highlights a need for improved bacterial seq2func models due to low </a:t>
            </a:r>
            <a:r>
              <a:rPr lang="el-GR" sz="2400" dirty="0">
                <a:latin typeface="Calibri" panose="020F0502020204030204" pitchFamily="34" charset="0"/>
                <a:cs typeface="Calibri" panose="020F0502020204030204" pitchFamily="34" charset="0"/>
              </a:rPr>
              <a:t>ρ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of RNA-expression predictions. </a:t>
            </a:r>
          </a:p>
          <a:p>
            <a:pPr marL="342900" indent="-342900">
              <a:spcAft>
                <a:spcPts val="11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Understanding bacterial genetic cis-regulatory grammar remain a challenge due to different regulatory mechanisms from eukaryotes. </a:t>
            </a:r>
          </a:p>
          <a:p>
            <a:pPr marL="342900" indent="-342900">
              <a:spcAft>
                <a:spcPts val="110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AlphaGenome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demonstrated minimal generalizability to bacteria; unfreezing the encoder can potentially enable better generalizability.</a:t>
            </a:r>
          </a:p>
          <a:p>
            <a:pPr marL="342900" indent="-342900">
              <a:spcAft>
                <a:spcPts val="1100"/>
              </a:spcAft>
              <a:buFont typeface="Arial" panose="020B0604020202020204" pitchFamily="34" charset="0"/>
              <a:buChar char="•"/>
            </a:pPr>
            <a:endParaRPr 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1100"/>
              </a:spcAft>
            </a:pPr>
            <a:endParaRPr 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1100"/>
              </a:spcAft>
            </a:pPr>
            <a:endParaRPr 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1100"/>
              </a:spcAft>
            </a:pPr>
            <a:endParaRPr 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1100"/>
              </a:spcAft>
            </a:pPr>
            <a:endParaRPr 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spcAft>
                <a:spcPts val="1100"/>
              </a:spcAft>
              <a:buFont typeface="Arial" panose="020B0604020202020204" pitchFamily="34" charset="0"/>
              <a:buChar char="•"/>
            </a:pPr>
            <a:endParaRPr 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1100"/>
              </a:spcAft>
            </a:pPr>
            <a:endParaRPr 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spcAft>
                <a:spcPts val="1100"/>
              </a:spcAft>
              <a:buFont typeface="Arial" panose="020B0604020202020204" pitchFamily="34" charset="0"/>
              <a:buChar char="•"/>
            </a:pPr>
            <a:endParaRPr 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96AA1F9-EDA1-892D-F9B3-660A85606CF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84999" y="3944525"/>
            <a:ext cx="16335852" cy="8986750"/>
          </a:xfrm>
          <a:prstGeom prst="rect">
            <a:avLst/>
          </a:prstGeom>
        </p:spPr>
      </p:pic>
      <p:pic>
        <p:nvPicPr>
          <p:cNvPr id="4" name="Picture 3" descr="20.1 Transcriptional Regulation of the lac Operon – Concepts in Biology">
            <a:extLst>
              <a:ext uri="{FF2B5EF4-FFF2-40B4-BE49-F238E27FC236}">
                <a16:creationId xmlns:a16="http://schemas.microsoft.com/office/drawing/2014/main" id="{66391C0F-C545-87E2-D332-19B767BF4BA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335755" y="22496736"/>
            <a:ext cx="5949761" cy="33978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3DBA48A-9CF2-B9F6-0E3D-2AFF7E80F2B7}"/>
              </a:ext>
            </a:extLst>
          </p:cNvPr>
          <p:cNvSpPr txBox="1"/>
          <p:nvPr/>
        </p:nvSpPr>
        <p:spPr>
          <a:xfrm>
            <a:off x="10214397" y="20236249"/>
            <a:ext cx="6735458" cy="2154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Gene Clustering based on </a:t>
            </a:r>
            <a:r>
              <a:rPr lang="en-US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RegulonDB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 into: </a:t>
            </a:r>
          </a:p>
          <a:p>
            <a:pPr marL="457200" indent="-457200">
              <a:buAutoNum type="arabicPeriod"/>
            </a:pPr>
            <a:r>
              <a:rPr lang="en-US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Monocistronic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 genes</a:t>
            </a:r>
          </a:p>
          <a:p>
            <a:pPr marL="457200" indent="-457200">
              <a:buAutoNum type="arabicPeriod"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Polycistronic genes</a:t>
            </a:r>
          </a:p>
          <a:p>
            <a:pPr marL="1028700" lvl="1" indent="-457200">
              <a:buAutoNum type="alphaLcPeriod"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First: first gene within an operon</a:t>
            </a:r>
          </a:p>
          <a:p>
            <a:pPr marL="1028700" lvl="1" indent="-457200">
              <a:buAutoNum type="alphaLcPeriod"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Internal: Non-first genes within an operon</a:t>
            </a:r>
          </a:p>
          <a:p>
            <a:pPr marL="457200" indent="-457200">
              <a:buAutoNum type="arabicPeriod"/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D1FFA60-6C7B-D4B5-33D2-105E6218A73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838503" y="26161757"/>
            <a:ext cx="7405324" cy="413495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D40FA54E-04A6-0774-5E25-9A19CC139D7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853180" y="14498176"/>
            <a:ext cx="14450237" cy="527933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8D30B877-A7F7-0C22-F64E-7C798AF856A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7241329" y="19935018"/>
            <a:ext cx="9000466" cy="352502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53144785-D69F-060D-3D56-56B4DDCFF486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7241329" y="23494373"/>
            <a:ext cx="9000466" cy="352502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DBA33B4A-3A06-E7F1-3E01-41E49E180E0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7241329" y="27180822"/>
            <a:ext cx="9000466" cy="35250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55822</TotalTime>
  <Words>754</Words>
  <Application>Microsoft Office PowerPoint</Application>
  <PresentationFormat>Custom</PresentationFormat>
  <Paragraphs>91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Symbol</vt:lpstr>
      <vt:lpstr>Times New Roman</vt:lpstr>
      <vt:lpstr>Wingdings</vt:lpstr>
      <vt:lpstr>Office Theme</vt:lpstr>
      <vt:lpstr>PowerPoint Presentation</vt:lpstr>
    </vt:vector>
  </TitlesOfParts>
  <Company>UC Berkeley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improved system for SQUID-detected MRI at microtesla fields</dc:title>
  <dc:subject/>
  <dc:creator>John Clarke</dc:creator>
  <dc:description/>
  <cp:lastModifiedBy>Evan Yang</cp:lastModifiedBy>
  <cp:revision>867</cp:revision>
  <dcterms:created xsi:type="dcterms:W3CDTF">2016-10-15T17:17:14Z</dcterms:created>
  <dcterms:modified xsi:type="dcterms:W3CDTF">2026-06-11T15:31:24Z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12.0000</vt:lpwstr>
  </property>
  <property fmtid="{D5CDD505-2E9C-101B-9397-08002B2CF9AE}" pid="3" name="Company">
    <vt:lpwstr>UC Berkeley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1</vt:i4>
  </property>
  <property fmtid="{D5CDD505-2E9C-101B-9397-08002B2CF9AE}" pid="9" name="PresentationFormat">
    <vt:lpwstr>Custom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1</vt:i4>
  </property>
</Properties>
</file>